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1"/>
  </p:sldMasterIdLst>
  <p:notesMasterIdLst>
    <p:notesMasterId r:id="rId9"/>
  </p:notesMasterIdLst>
  <p:sldIdLst>
    <p:sldId id="267" r:id="rId2"/>
    <p:sldId id="432" r:id="rId3"/>
    <p:sldId id="441" r:id="rId4"/>
    <p:sldId id="419" r:id="rId5"/>
    <p:sldId id="438" r:id="rId6"/>
    <p:sldId id="439" r:id="rId7"/>
    <p:sldId id="44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450F"/>
    <a:srgbClr val="F2D9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68"/>
    <p:restoredTop sz="73707"/>
  </p:normalViewPr>
  <p:slideViewPr>
    <p:cSldViewPr snapToGrid="0" snapToObjects="1">
      <p:cViewPr>
        <p:scale>
          <a:sx n="96" d="100"/>
          <a:sy n="96" d="100"/>
        </p:scale>
        <p:origin x="3320"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54AA-5A42-514C-A901-D0C245275B30}" type="datetimeFigureOut">
              <a:rPr lang="en-US" smtClean="0"/>
              <a:t>4/21/26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377FF0-A93A-5549-AEAD-B1FCA65881D1}" type="slidenum">
              <a:rPr lang="en-US" smtClean="0"/>
              <a:t>‹#›</a:t>
            </a:fld>
            <a:endParaRPr lang="en-US"/>
          </a:p>
        </p:txBody>
      </p:sp>
    </p:spTree>
    <p:extLst>
      <p:ext uri="{BB962C8B-B14F-4D97-AF65-F5344CB8AC3E}">
        <p14:creationId xmlns:p14="http://schemas.microsoft.com/office/powerpoint/2010/main" val="192245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CD1FDB-CE02-974B-9AB1-974DAEB1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9172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I’m going to explain my construction of a Bayesian spike-and-slab-LASSO model in a competing risks setting</a:t>
            </a:r>
          </a:p>
          <a:p>
            <a:pPr marL="171450" indent="-171450">
              <a:buFont typeface="Arial" panose="020B0604020202020204" pitchFamily="34" charset="0"/>
              <a:buChar char="•"/>
            </a:pPr>
            <a:r>
              <a:rPr lang="en-US" dirty="0"/>
              <a:t>Where I argue that the practical implementation depends on both the choice between the underlying likelihood and the choice of evaluation metric used in hyperparameter tuning</a:t>
            </a:r>
          </a:p>
          <a:p>
            <a:pPr marL="171450" indent="-171450">
              <a:buFont typeface="Arial" panose="020B0604020202020204" pitchFamily="34" charset="0"/>
              <a:buChar char="•"/>
            </a:pPr>
            <a:r>
              <a:rPr lang="en-US" dirty="0"/>
              <a:t>And I’ll explain how my choices represent a unified competing risks framework </a:t>
            </a:r>
          </a:p>
        </p:txBody>
      </p:sp>
      <p:sp>
        <p:nvSpPr>
          <p:cNvPr id="4" name="Slide Number Placeholder 3"/>
          <p:cNvSpPr>
            <a:spLocks noGrp="1"/>
          </p:cNvSpPr>
          <p:nvPr>
            <p:ph type="sldNum" sz="quarter" idx="5"/>
          </p:nvPr>
        </p:nvSpPr>
        <p:spPr/>
        <p:txBody>
          <a:bodyPr/>
          <a:lstStyle/>
          <a:p>
            <a:fld id="{6D377FF0-A93A-5549-AEAD-B1FCA65881D1}" type="slidenum">
              <a:rPr lang="en-US" smtClean="0"/>
              <a:t>2</a:t>
            </a:fld>
            <a:endParaRPr lang="en-US"/>
          </a:p>
        </p:txBody>
      </p:sp>
    </p:spTree>
    <p:extLst>
      <p:ext uri="{BB962C8B-B14F-4D97-AF65-F5344CB8AC3E}">
        <p14:creationId xmlns:p14="http://schemas.microsoft.com/office/powerpoint/2010/main" val="766229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B9CD2-8D9D-B2F0-BDC2-50986C0DA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98EA1-0D2B-758F-F58E-197CC9081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84058-068E-FFC0-E2C0-DEB0D36F16B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context here could be anywhere where we have high dimensional predictors and time to event outcomes, and critically, where interpretability of the model is much more important than predictive accuracy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As a biostatistician, one common case we encounter is identifying potential drug targets,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where our variables come from high dimensional omics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our outcomes come from patient health outcomes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We want a model that can select variables and simultaneously give us enough information on the direction and relative strengths of the associations captured by those variables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to be useful for hypothesis generation for our downstream bench scientists to prioritize testing targets.</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this motivates the Bayesian penalized regression.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Which can do simultaneous variable selection and estimation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they can also self adapt to sparse signals</a:t>
            </a:r>
            <a:endParaRPr lang="en-US" dirty="0"/>
          </a:p>
        </p:txBody>
      </p:sp>
      <p:sp>
        <p:nvSpPr>
          <p:cNvPr id="4" name="Slide Number Placeholder 3">
            <a:extLst>
              <a:ext uri="{FF2B5EF4-FFF2-40B4-BE49-F238E27FC236}">
                <a16:creationId xmlns:a16="http://schemas.microsoft.com/office/drawing/2014/main" id="{58852F4F-5E87-3FCB-C3A3-A6556D2B26DA}"/>
              </a:ext>
            </a:extLst>
          </p:cNvPr>
          <p:cNvSpPr>
            <a:spLocks noGrp="1"/>
          </p:cNvSpPr>
          <p:nvPr>
            <p:ph type="sldNum" sz="quarter" idx="5"/>
          </p:nvPr>
        </p:nvSpPr>
        <p:spPr/>
        <p:txBody>
          <a:bodyPr/>
          <a:lstStyle/>
          <a:p>
            <a:fld id="{EBCD1FDB-CE02-974B-9AB1-974DAEB1C604}" type="slidenum">
              <a:rPr lang="en-US" smtClean="0"/>
              <a:t>3</a:t>
            </a:fld>
            <a:endParaRPr lang="en-US"/>
          </a:p>
        </p:txBody>
      </p:sp>
    </p:spTree>
    <p:extLst>
      <p:ext uri="{BB962C8B-B14F-4D97-AF65-F5344CB8AC3E}">
        <p14:creationId xmlns:p14="http://schemas.microsoft.com/office/powerpoint/2010/main" val="1543663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In this context we’re considering a hierarchical model,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 and what makes it spike and slab LASSO is the distribution we place on the beta coefficients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is a mixture of two double exponential distributions centered around 0 with different scales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smaller scale s0 corresponding to a spike, where beta coefficients are shrunk to 0</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larger scale s1 corresponds to a more diffused slab, for the coefficients that do have signal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Because we are </a:t>
            </a:r>
            <a:r>
              <a:rPr lang="en-US" sz="1200" kern="1200" dirty="0" err="1">
                <a:solidFill>
                  <a:schemeClr val="tx1"/>
                </a:solidFill>
                <a:effectLst/>
                <a:latin typeface="+mn-lt"/>
                <a:ea typeface="+mn-ea"/>
                <a:cs typeface="+mn-cs"/>
              </a:rPr>
              <a:t>bayesian</a:t>
            </a:r>
            <a:r>
              <a:rPr lang="en-US" sz="1200" kern="1200" dirty="0">
                <a:solidFill>
                  <a:schemeClr val="tx1"/>
                </a:solidFill>
                <a:effectLst/>
                <a:latin typeface="+mn-lt"/>
                <a:ea typeface="+mn-ea"/>
                <a:cs typeface="+mn-cs"/>
              </a:rPr>
              <a:t>, we parameterize both the gamma here that controls the mixture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As well as the theta here that controls the gamma.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is the really cool part in my opinion, because its what allows the model to actually self adapt to the sparsity.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But even Bayesians have hyperparameters, and ours are the spike and slab scales.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And this is where we need to pay closer attention to the outcome that we’re interested in,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 because we need some predictive framework to tune these hyperparameters.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 I said before we’re interested in time to event,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Unfortunately, this is often complicated by  competing risks. </a:t>
            </a:r>
          </a:p>
          <a:p>
            <a:endParaRPr lang="en-US" dirty="0"/>
          </a:p>
        </p:txBody>
      </p:sp>
      <p:sp>
        <p:nvSpPr>
          <p:cNvPr id="4" name="Slide Number Placeholder 3"/>
          <p:cNvSpPr>
            <a:spLocks noGrp="1"/>
          </p:cNvSpPr>
          <p:nvPr>
            <p:ph type="sldNum" sz="quarter" idx="5"/>
          </p:nvPr>
        </p:nvSpPr>
        <p:spPr/>
        <p:txBody>
          <a:bodyPr/>
          <a:lstStyle/>
          <a:p>
            <a:fld id="{6D377FF0-A93A-5549-AEAD-B1FCA65881D1}" type="slidenum">
              <a:rPr lang="en-US" smtClean="0"/>
              <a:t>4</a:t>
            </a:fld>
            <a:endParaRPr lang="en-US"/>
          </a:p>
        </p:txBody>
      </p:sp>
    </p:spTree>
    <p:extLst>
      <p:ext uri="{BB962C8B-B14F-4D97-AF65-F5344CB8AC3E}">
        <p14:creationId xmlns:p14="http://schemas.microsoft.com/office/powerpoint/2010/main" val="1621177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69819-FEC4-0BF8-8874-7019859C6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63A36-635D-8B9A-752F-C92196D9C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E00CD-55A2-7DE1-4915-9EE7CC62E48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This diagram shows competing risks during the </a:t>
            </a:r>
            <a:r>
              <a:rPr lang="en-US" sz="1200" kern="1200" dirty="0" err="1">
                <a:solidFill>
                  <a:schemeClr val="tx1"/>
                </a:solidFill>
                <a:effectLst/>
                <a:latin typeface="+mn-lt"/>
                <a:ea typeface="+mn-ea"/>
                <a:cs typeface="+mn-cs"/>
              </a:rPr>
              <a:t>followup</a:t>
            </a:r>
            <a:r>
              <a:rPr lang="en-US" sz="1200" kern="1200" dirty="0">
                <a:solidFill>
                  <a:schemeClr val="tx1"/>
                </a:solidFill>
                <a:effectLst/>
                <a:latin typeface="+mn-lt"/>
                <a:ea typeface="+mn-ea"/>
                <a:cs typeface="+mn-cs"/>
              </a:rPr>
              <a:t> timelines for 5 hypothetical 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Patients A and B have green x’s </a:t>
            </a:r>
            <a:r>
              <a:rPr lang="en-US" sz="1200" kern="1200" dirty="0" err="1">
                <a:solidFill>
                  <a:schemeClr val="tx1"/>
                </a:solidFill>
                <a:effectLst/>
                <a:latin typeface="+mn-lt"/>
                <a:ea typeface="+mn-ea"/>
                <a:cs typeface="+mn-cs"/>
              </a:rPr>
              <a:t>neaning</a:t>
            </a:r>
            <a:r>
              <a:rPr lang="en-US" sz="1200" kern="1200" dirty="0">
                <a:solidFill>
                  <a:schemeClr val="tx1"/>
                </a:solidFill>
                <a:effectLst/>
                <a:latin typeface="+mn-lt"/>
                <a:ea typeface="+mn-ea"/>
                <a:cs typeface="+mn-cs"/>
              </a:rPr>
              <a:t> they were censored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Basically we lost sight of them and don’t know what happens after this point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C and D have red squares, which means we saw them experience our outcome of interest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person E has a yellow square, meaning we saw them experience a competing event that precludes our event of interest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way a competing risk is handled depends on Person 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In a cox </a:t>
            </a:r>
            <a:r>
              <a:rPr lang="en-US" sz="1200" kern="1200" dirty="0" err="1">
                <a:solidFill>
                  <a:schemeClr val="tx1"/>
                </a:solidFill>
                <a:effectLst/>
                <a:latin typeface="+mn-lt"/>
                <a:ea typeface="+mn-ea"/>
                <a:cs typeface="+mn-cs"/>
              </a:rPr>
              <a:t>ph</a:t>
            </a:r>
            <a:r>
              <a:rPr lang="en-US" sz="1200" kern="1200" dirty="0">
                <a:solidFill>
                  <a:schemeClr val="tx1"/>
                </a:solidFill>
                <a:effectLst/>
                <a:latin typeface="+mn-lt"/>
                <a:ea typeface="+mn-ea"/>
                <a:cs typeface="+mn-cs"/>
              </a:rPr>
              <a:t> model, they’d just be censored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6FCA5FE9-6A19-0893-81FD-7FFE6D524A40}"/>
              </a:ext>
            </a:extLst>
          </p:cNvPr>
          <p:cNvSpPr>
            <a:spLocks noGrp="1"/>
          </p:cNvSpPr>
          <p:nvPr>
            <p:ph type="sldNum" sz="quarter" idx="5"/>
          </p:nvPr>
        </p:nvSpPr>
        <p:spPr/>
        <p:txBody>
          <a:bodyPr/>
          <a:lstStyle/>
          <a:p>
            <a:fld id="{EBCD1FDB-CE02-974B-9AB1-974DAEB1C604}" type="slidenum">
              <a:rPr lang="en-US" smtClean="0"/>
              <a:t>5</a:t>
            </a:fld>
            <a:endParaRPr lang="en-US"/>
          </a:p>
        </p:txBody>
      </p:sp>
    </p:spTree>
    <p:extLst>
      <p:ext uri="{BB962C8B-B14F-4D97-AF65-F5344CB8AC3E}">
        <p14:creationId xmlns:p14="http://schemas.microsoft.com/office/powerpoint/2010/main" val="3925289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AB2DA-1E4B-259C-5900-F1E85542F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6EDE8-F78C-C2D2-C3D8-7AE5F227F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8A90C-9223-9776-5913-CC1D016F759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But that’s wrong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Because then they’d look like person 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But those two are fundamentally different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 can experience the event albeit unobserved, but E can never experience the event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9EDF505C-6F7B-4943-5D2D-911CF49585D7}"/>
              </a:ext>
            </a:extLst>
          </p:cNvPr>
          <p:cNvSpPr>
            <a:spLocks noGrp="1"/>
          </p:cNvSpPr>
          <p:nvPr>
            <p:ph type="sldNum" sz="quarter" idx="5"/>
          </p:nvPr>
        </p:nvSpPr>
        <p:spPr/>
        <p:txBody>
          <a:bodyPr/>
          <a:lstStyle/>
          <a:p>
            <a:fld id="{EBCD1FDB-CE02-974B-9AB1-974DAEB1C604}" type="slidenum">
              <a:rPr lang="en-US" smtClean="0"/>
              <a:t>6</a:t>
            </a:fld>
            <a:endParaRPr lang="en-US"/>
          </a:p>
        </p:txBody>
      </p:sp>
    </p:spTree>
    <p:extLst>
      <p:ext uri="{BB962C8B-B14F-4D97-AF65-F5344CB8AC3E}">
        <p14:creationId xmlns:p14="http://schemas.microsoft.com/office/powerpoint/2010/main" val="449146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48840-FAEF-4DED-DA0F-1C186ABB5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3A658-6504-B112-4C9B-EB0ECD285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4AA29-B8E4-8D56-7706-CFF1B4A261E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We need to acknowledges this not just when building the model structurally, but also in the implementation through tuning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I’m using the proportional </a:t>
            </a:r>
            <a:r>
              <a:rPr lang="en-US" sz="1200" kern="1200" dirty="0" err="1">
                <a:solidFill>
                  <a:schemeClr val="tx1"/>
                </a:solidFill>
                <a:effectLst/>
                <a:latin typeface="+mn-lt"/>
                <a:ea typeface="+mn-ea"/>
                <a:cs typeface="+mn-cs"/>
              </a:rPr>
              <a:t>subdistribution</a:t>
            </a:r>
            <a:r>
              <a:rPr lang="en-US" sz="1200" kern="1200" dirty="0">
                <a:solidFill>
                  <a:schemeClr val="tx1"/>
                </a:solidFill>
                <a:effectLst/>
                <a:latin typeface="+mn-lt"/>
                <a:ea typeface="+mn-ea"/>
                <a:cs typeface="+mn-cs"/>
              </a:rPr>
              <a:t> hazard likelihood as the basis of my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This is the competing risk extension to the cox likelihood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important part here is that person E is kept in the likelihood even after their event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Doing this induces a direct monotonic relationship between the regression coefficients and the cumulative incidence function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this cumulative incidence is actually observable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this is what we tune 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So then we also need a metric that acknowledges our core fact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Wolber’s concordance index for competing risks does this by explicitly defining a concordant criteria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Person E is kept as a potential observation to be compared even after they experience the event of interest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And a concordant prediction is one that says they’re at the lowest risk of the primary even,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 because their risk is low, it’s 0, they can’t experience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So using these two techniques together, we’ve formed a cohesive competing risk framework that we can use for the spike-and-slab LASSO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5CB96513-68B7-D53E-6665-D2AC0E2F648E}"/>
              </a:ext>
            </a:extLst>
          </p:cNvPr>
          <p:cNvSpPr>
            <a:spLocks noGrp="1"/>
          </p:cNvSpPr>
          <p:nvPr>
            <p:ph type="sldNum" sz="quarter" idx="5"/>
          </p:nvPr>
        </p:nvSpPr>
        <p:spPr/>
        <p:txBody>
          <a:bodyPr/>
          <a:lstStyle/>
          <a:p>
            <a:fld id="{EBCD1FDB-CE02-974B-9AB1-974DAEB1C604}" type="slidenum">
              <a:rPr lang="en-US" smtClean="0"/>
              <a:t>7</a:t>
            </a:fld>
            <a:endParaRPr lang="en-US"/>
          </a:p>
        </p:txBody>
      </p:sp>
    </p:spTree>
    <p:extLst>
      <p:ext uri="{BB962C8B-B14F-4D97-AF65-F5344CB8AC3E}">
        <p14:creationId xmlns:p14="http://schemas.microsoft.com/office/powerpoint/2010/main" val="3942803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Full Frame 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7C5A12-C97F-6F85-EBA2-840FDFD95880}"/>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0718EE-DCBC-6B40-89DB-6DACC21FB133}"/>
              </a:ext>
            </a:extLst>
          </p:cNvPr>
          <p:cNvSpPr>
            <a:spLocks noGrp="1"/>
          </p:cNvSpPr>
          <p:nvPr>
            <p:ph type="title"/>
          </p:nvPr>
        </p:nvSpPr>
        <p:spPr>
          <a:xfrm>
            <a:off x="586407" y="1341782"/>
            <a:ext cx="11019183" cy="4303643"/>
          </a:xfrm>
          <a:prstGeom prst="rect">
            <a:avLst/>
          </a:prstGeom>
        </p:spPr>
        <p:txBody>
          <a:bodyPr>
            <a:normAutofit/>
          </a:bodyPr>
          <a:lstStyle>
            <a:lvl1pPr algn="ctr">
              <a:defRPr sz="9000" b="1" i="0"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329526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Frame 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7C5A12-C97F-6F85-EBA2-840FDFD95880}"/>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0718EE-DCBC-6B40-89DB-6DACC21FB133}"/>
              </a:ext>
            </a:extLst>
          </p:cNvPr>
          <p:cNvSpPr>
            <a:spLocks noGrp="1"/>
          </p:cNvSpPr>
          <p:nvPr>
            <p:ph type="title"/>
          </p:nvPr>
        </p:nvSpPr>
        <p:spPr>
          <a:xfrm>
            <a:off x="586407" y="1341782"/>
            <a:ext cx="11019183" cy="4303643"/>
          </a:xfrm>
          <a:prstGeom prst="rect">
            <a:avLst/>
          </a:prstGeom>
        </p:spPr>
        <p:txBody>
          <a:bodyPr>
            <a:normAutofit/>
          </a:bodyPr>
          <a:lstStyle>
            <a:lvl1pPr algn="ctr">
              <a:defRPr sz="9000" b="1" i="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71323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9A79-0C9A-EC4D-9833-881716D6B244}"/>
              </a:ext>
            </a:extLst>
          </p:cNvPr>
          <p:cNvSpPr>
            <a:spLocks noGrp="1"/>
          </p:cNvSpPr>
          <p:nvPr>
            <p:ph type="ctrTitle"/>
          </p:nvPr>
        </p:nvSpPr>
        <p:spPr>
          <a:xfrm>
            <a:off x="1524000" y="1122363"/>
            <a:ext cx="9144000" cy="2387600"/>
          </a:xfrm>
          <a:prstGeom prst="rect">
            <a:avLst/>
          </a:prstGeom>
        </p:spPr>
        <p:txBody>
          <a:bodyPr anchor="b">
            <a:normAutofit/>
          </a:bodyPr>
          <a:lstStyle>
            <a:lvl1pPr algn="ctr">
              <a:defRPr sz="7500" b="1" i="0" baseline="0">
                <a:solidFill>
                  <a:schemeClr val="accent1"/>
                </a:solidFill>
              </a:defRPr>
            </a:lvl1pPr>
          </a:lstStyle>
          <a:p>
            <a:r>
              <a:rPr lang="en-US" dirty="0"/>
              <a:t>Click to edit Master title style</a:t>
            </a:r>
          </a:p>
        </p:txBody>
      </p:sp>
      <p:sp>
        <p:nvSpPr>
          <p:cNvPr id="3" name="Subtitle 2">
            <a:extLst>
              <a:ext uri="{FF2B5EF4-FFF2-40B4-BE49-F238E27FC236}">
                <a16:creationId xmlns:a16="http://schemas.microsoft.com/office/drawing/2014/main" id="{DCF4F58B-B0F4-6B49-96E1-A3DA9CFCDE55}"/>
              </a:ext>
            </a:extLst>
          </p:cNvPr>
          <p:cNvSpPr>
            <a:spLocks noGrp="1"/>
          </p:cNvSpPr>
          <p:nvPr>
            <p:ph type="subTitle" idx="1"/>
          </p:nvPr>
        </p:nvSpPr>
        <p:spPr>
          <a:xfrm>
            <a:off x="1524000" y="3602038"/>
            <a:ext cx="9144000" cy="1655762"/>
          </a:xfrm>
        </p:spPr>
        <p:txBody>
          <a:bodyPr>
            <a:normAutofit/>
          </a:bodyPr>
          <a:lstStyle>
            <a:lvl1pPr marL="0" indent="0" algn="ctr">
              <a:buNone/>
              <a:defRPr sz="35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95862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 Fram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50D60D7-DBBC-D048-97C0-8F0799F05ABD}"/>
              </a:ext>
            </a:extLst>
          </p:cNvPr>
          <p:cNvSpPr>
            <a:spLocks noGrp="1"/>
          </p:cNvSpPr>
          <p:nvPr>
            <p:ph type="pic" sz="quarter" idx="13"/>
          </p:nvPr>
        </p:nvSpPr>
        <p:spPr>
          <a:xfrm>
            <a:off x="297455" y="782198"/>
            <a:ext cx="11894545" cy="5530466"/>
          </a:xfrm>
          <a:solidFill>
            <a:schemeClr val="bg2"/>
          </a:solidFill>
        </p:spPr>
        <p:txBody>
          <a:bodyPr/>
          <a:lstStyle/>
          <a:p>
            <a:endParaRPr lang="en-US" dirty="0"/>
          </a:p>
        </p:txBody>
      </p:sp>
      <p:sp>
        <p:nvSpPr>
          <p:cNvPr id="2" name="Title 1">
            <a:extLst>
              <a:ext uri="{FF2B5EF4-FFF2-40B4-BE49-F238E27FC236}">
                <a16:creationId xmlns:a16="http://schemas.microsoft.com/office/drawing/2014/main" id="{8C0718EE-DCBC-6B40-89DB-6DACC21FB133}"/>
              </a:ext>
            </a:extLst>
          </p:cNvPr>
          <p:cNvSpPr>
            <a:spLocks noGrp="1"/>
          </p:cNvSpPr>
          <p:nvPr>
            <p:ph type="title"/>
          </p:nvPr>
        </p:nvSpPr>
        <p:spPr>
          <a:xfrm>
            <a:off x="586407" y="3329609"/>
            <a:ext cx="11019183" cy="2007704"/>
          </a:xfrm>
          <a:prstGeom prst="rect">
            <a:avLst/>
          </a:prstGeom>
        </p:spPr>
        <p:txBody>
          <a:bodyPr>
            <a:normAutofit/>
          </a:bodyPr>
          <a:lstStyle>
            <a:lvl1pPr algn="ctr">
              <a:defRPr sz="6500" b="1" i="0"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37991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C418-7B51-1F42-B682-6468D6184A51}"/>
              </a:ext>
            </a:extLst>
          </p:cNvPr>
          <p:cNvSpPr>
            <a:spLocks noGrp="1"/>
          </p:cNvSpPr>
          <p:nvPr>
            <p:ph type="title"/>
          </p:nvPr>
        </p:nvSpPr>
        <p:spPr>
          <a:xfrm>
            <a:off x="7528823" y="790221"/>
            <a:ext cx="3932237" cy="1682045"/>
          </a:xfrm>
          <a:prstGeom prst="rect">
            <a:avLst/>
          </a:prstGeom>
        </p:spPr>
        <p:txBody>
          <a:bodyPr anchor="b">
            <a:normAutofit/>
          </a:bodyPr>
          <a:lstStyle>
            <a:lvl1pPr>
              <a:defRPr sz="3500" b="1" i="0" baseline="0">
                <a:solidFill>
                  <a:schemeClr val="accent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33AE6E81-EF91-B94E-B2FB-A0261A8D02DE}"/>
              </a:ext>
            </a:extLst>
          </p:cNvPr>
          <p:cNvSpPr>
            <a:spLocks noGrp="1"/>
          </p:cNvSpPr>
          <p:nvPr>
            <p:ph type="pic" idx="1"/>
          </p:nvPr>
        </p:nvSpPr>
        <p:spPr>
          <a:xfrm>
            <a:off x="626164" y="457201"/>
            <a:ext cx="6361045" cy="54117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ED86DA-BF2A-2945-93CD-9E6EBE526314}"/>
              </a:ext>
            </a:extLst>
          </p:cNvPr>
          <p:cNvSpPr>
            <a:spLocks noGrp="1"/>
          </p:cNvSpPr>
          <p:nvPr>
            <p:ph type="body" sz="half" idx="2"/>
          </p:nvPr>
        </p:nvSpPr>
        <p:spPr>
          <a:xfrm>
            <a:off x="7528823" y="2472266"/>
            <a:ext cx="3932237" cy="339672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797799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05E0-DFB0-8A4C-89B0-6BA2273F851A}"/>
              </a:ext>
            </a:extLst>
          </p:cNvPr>
          <p:cNvSpPr>
            <a:spLocks noGrp="1"/>
          </p:cNvSpPr>
          <p:nvPr>
            <p:ph type="title"/>
          </p:nvPr>
        </p:nvSpPr>
        <p:spPr>
          <a:xfrm>
            <a:off x="838200" y="365125"/>
            <a:ext cx="10515600" cy="1325563"/>
          </a:xfrm>
          <a:prstGeom prst="rect">
            <a:avLst/>
          </a:prstGeom>
        </p:spPr>
        <p:txBody>
          <a:bodyPr/>
          <a:lstStyle>
            <a:lvl1pPr>
              <a:defRPr b="1" i="0" baseline="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7D92818-A55D-8448-8F42-F180523466D0}"/>
              </a:ext>
            </a:extLst>
          </p:cNvPr>
          <p:cNvSpPr>
            <a:spLocks noGrp="1"/>
          </p:cNvSpPr>
          <p:nvPr>
            <p:ph idx="1"/>
          </p:nvPr>
        </p:nvSpPr>
        <p:spPr>
          <a:xfrm>
            <a:off x="838200" y="1825625"/>
            <a:ext cx="10515600" cy="4067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0946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1FCD4-1B38-0B4A-BD67-44F80495EB26}"/>
              </a:ext>
            </a:extLst>
          </p:cNvPr>
          <p:cNvSpPr>
            <a:spLocks noGrp="1"/>
          </p:cNvSpPr>
          <p:nvPr>
            <p:ph type="title"/>
          </p:nvPr>
        </p:nvSpPr>
        <p:spPr>
          <a:xfrm>
            <a:off x="831850" y="1709738"/>
            <a:ext cx="10515600" cy="2852737"/>
          </a:xfrm>
          <a:prstGeom prst="rect">
            <a:avLst/>
          </a:prstGeom>
        </p:spPr>
        <p:txBody>
          <a:bodyPr anchor="b"/>
          <a:lstStyle>
            <a:lvl1pPr>
              <a:defRPr sz="6000" b="1" i="0" baseline="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DD30C33-1A0F-2F41-BCE8-FACE145DE8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32046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3B50-55C6-4547-AE34-47292853DA5E}"/>
              </a:ext>
            </a:extLst>
          </p:cNvPr>
          <p:cNvSpPr>
            <a:spLocks noGrp="1"/>
          </p:cNvSpPr>
          <p:nvPr>
            <p:ph type="title"/>
          </p:nvPr>
        </p:nvSpPr>
        <p:spPr>
          <a:xfrm>
            <a:off x="838200" y="365125"/>
            <a:ext cx="10515600" cy="1325563"/>
          </a:xfrm>
          <a:prstGeom prst="rect">
            <a:avLst/>
          </a:prstGeom>
        </p:spPr>
        <p:txBody>
          <a:bodyPr/>
          <a:lstStyle>
            <a:lvl1pPr>
              <a:defRPr b="1" i="0" baseline="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EA54845-0921-4245-99E6-7D64D448F26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0B7EC-F64E-7C44-B560-9A1C6F85F2D5}"/>
              </a:ext>
            </a:extLst>
          </p:cNvPr>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040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F5AA-0E35-D349-A12B-D186E96639D1}"/>
              </a:ext>
            </a:extLst>
          </p:cNvPr>
          <p:cNvSpPr>
            <a:spLocks noGrp="1"/>
          </p:cNvSpPr>
          <p:nvPr>
            <p:ph type="title"/>
          </p:nvPr>
        </p:nvSpPr>
        <p:spPr>
          <a:xfrm>
            <a:off x="839788" y="365125"/>
            <a:ext cx="10515600" cy="1325563"/>
          </a:xfrm>
          <a:prstGeom prst="rect">
            <a:avLst/>
          </a:prstGeom>
        </p:spPr>
        <p:txBody>
          <a:bodyPr/>
          <a:lstStyle>
            <a:lvl1pPr>
              <a:defRPr b="1" i="0" baseline="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8C9AA2B3-3F14-B949-B39D-D26FDD15B1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06BDE1F-09B3-BC4F-B394-8B3AA903FF3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05A397-558A-8545-AA36-20A4AED9D4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04E84FF-3648-9045-BD6E-E6E2A842745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1613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B103-237B-544E-B56B-CCC652467A98}"/>
              </a:ext>
            </a:extLst>
          </p:cNvPr>
          <p:cNvSpPr>
            <a:spLocks noGrp="1"/>
          </p:cNvSpPr>
          <p:nvPr>
            <p:ph type="title"/>
          </p:nvPr>
        </p:nvSpPr>
        <p:spPr>
          <a:xfrm>
            <a:off x="838200" y="748947"/>
            <a:ext cx="10515600" cy="1325563"/>
          </a:xfrm>
          <a:prstGeom prst="rect">
            <a:avLst/>
          </a:prstGeom>
        </p:spPr>
        <p:txBody>
          <a:bodyPr/>
          <a:lstStyle>
            <a:lvl1pPr>
              <a:defRPr b="1" i="0" baseline="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2752117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809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B63C3-4244-A742-ACF4-3DFBFC5A5473}"/>
              </a:ext>
            </a:extLst>
          </p:cNvPr>
          <p:cNvSpPr>
            <a:spLocks noGrp="1"/>
          </p:cNvSpPr>
          <p:nvPr>
            <p:ph type="title"/>
          </p:nvPr>
        </p:nvSpPr>
        <p:spPr>
          <a:xfrm>
            <a:off x="839788" y="457200"/>
            <a:ext cx="3932237" cy="1600200"/>
          </a:xfrm>
          <a:prstGeom prst="rect">
            <a:avLst/>
          </a:prstGeom>
        </p:spPr>
        <p:txBody>
          <a:bodyPr anchor="b"/>
          <a:lstStyle>
            <a:lvl1pPr>
              <a:defRPr sz="3200" b="1" i="0" baseline="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0965FC02-624D-EF46-BFD3-863C89B41F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0C064E-9846-DA4F-916B-4EF3BE1724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062301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F923A-CB45-4449-8842-8CD81DDC74F6}"/>
              </a:ext>
            </a:extLst>
          </p:cNvPr>
          <p:cNvSpPr>
            <a:spLocks noGrp="1"/>
          </p:cNvSpPr>
          <p:nvPr>
            <p:ph type="title"/>
          </p:nvPr>
        </p:nvSpPr>
        <p:spPr>
          <a:xfrm>
            <a:off x="838200" y="500062"/>
            <a:ext cx="10515600" cy="1325563"/>
          </a:xfrm>
          <a:prstGeom prst="rect">
            <a:avLst/>
          </a:prstGeom>
        </p:spPr>
        <p:txBody>
          <a:bodyPr/>
          <a:lstStyle>
            <a:lvl1pPr>
              <a:defRPr b="1" i="0" baseline="0">
                <a:solidFill>
                  <a:schemeClr val="accent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698646C-D8A4-EB4E-91E4-D1666467794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3875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60739A-1B88-864A-8F17-580BD50C077A}"/>
              </a:ext>
            </a:extLst>
          </p:cNvPr>
          <p:cNvSpPr>
            <a:spLocks noGrp="1"/>
          </p:cNvSpPr>
          <p:nvPr>
            <p:ph type="title" orient="vert"/>
          </p:nvPr>
        </p:nvSpPr>
        <p:spPr>
          <a:xfrm>
            <a:off x="8724900" y="722489"/>
            <a:ext cx="2628900" cy="5454474"/>
          </a:xfrm>
          <a:prstGeom prst="rect">
            <a:avLst/>
          </a:prstGeom>
        </p:spPr>
        <p:txBody>
          <a:bodyPr vert="eaVert"/>
          <a:lstStyle>
            <a:lvl1pPr>
              <a:defRPr b="1" i="0" baseline="0">
                <a:solidFill>
                  <a:schemeClr val="accent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5C82C530-0EB8-594F-94A9-7E068D7E45DD}"/>
              </a:ext>
            </a:extLst>
          </p:cNvPr>
          <p:cNvSpPr>
            <a:spLocks noGrp="1"/>
          </p:cNvSpPr>
          <p:nvPr>
            <p:ph type="body" orient="vert" idx="1"/>
          </p:nvPr>
        </p:nvSpPr>
        <p:spPr>
          <a:xfrm>
            <a:off x="838200" y="722487"/>
            <a:ext cx="7734300" cy="5454475"/>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13203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E2DE75-C282-1C43-AEAD-02A07B8CC266}"/>
              </a:ext>
            </a:extLst>
          </p:cNvPr>
          <p:cNvSpPr>
            <a:spLocks noGrp="1"/>
          </p:cNvSpPr>
          <p:nvPr>
            <p:ph type="body" idx="1"/>
          </p:nvPr>
        </p:nvSpPr>
        <p:spPr>
          <a:xfrm>
            <a:off x="838200" y="1825625"/>
            <a:ext cx="10515600" cy="418754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C8233BD-96E6-FE4F-B182-03257A4BF33D}"/>
              </a:ext>
            </a:extLst>
          </p:cNvPr>
          <p:cNvSpPr>
            <a:spLocks noGrp="1"/>
          </p:cNvSpPr>
          <p:nvPr>
            <p:ph type="sldNum" sz="quarter" idx="4"/>
          </p:nvPr>
        </p:nvSpPr>
        <p:spPr>
          <a:xfrm>
            <a:off x="8951697" y="6356350"/>
            <a:ext cx="206100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722-51FE-EF4B-9E63-E4695586A274}" type="slidenum">
              <a:rPr lang="en-US" smtClean="0"/>
              <a:t>‹#›</a:t>
            </a:fld>
            <a:endParaRPr lang="en-US"/>
          </a:p>
        </p:txBody>
      </p:sp>
      <p:sp>
        <p:nvSpPr>
          <p:cNvPr id="7" name="Title Placeholder 6">
            <a:extLst>
              <a:ext uri="{FF2B5EF4-FFF2-40B4-BE49-F238E27FC236}">
                <a16:creationId xmlns:a16="http://schemas.microsoft.com/office/drawing/2014/main" id="{0AC10482-C5B2-2243-B02C-AE711CD27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53336418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Lst>
  <p:hf hdr="0" ftr="0" dt="0"/>
  <p:txStyles>
    <p:titleStyle>
      <a:lvl1pPr algn="l" defTabSz="914400" rtl="0" eaLnBrk="1" latinLnBrk="0" hangingPunct="1">
        <a:lnSpc>
          <a:spcPct val="90000"/>
        </a:lnSpc>
        <a:spcBef>
          <a:spcPct val="0"/>
        </a:spcBef>
        <a:buNone/>
        <a:defRPr sz="4400" kern="1200" baseline="0">
          <a:solidFill>
            <a:schemeClr val="accent1"/>
          </a:solidFill>
          <a:latin typeface="Factoria Ultra"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D70E-D29D-945C-ED5A-DCC1739AAE20}"/>
              </a:ext>
            </a:extLst>
          </p:cNvPr>
          <p:cNvSpPr>
            <a:spLocks noGrp="1"/>
          </p:cNvSpPr>
          <p:nvPr>
            <p:ph type="title"/>
          </p:nvPr>
        </p:nvSpPr>
        <p:spPr>
          <a:xfrm>
            <a:off x="586408" y="554107"/>
            <a:ext cx="11019183" cy="4303643"/>
          </a:xfrm>
        </p:spPr>
        <p:txBody>
          <a:bodyPr>
            <a:noAutofit/>
          </a:bodyPr>
          <a:lstStyle/>
          <a:p>
            <a:r>
              <a:rPr lang="en-US" sz="5333" dirty="0"/>
              <a:t>Addressing Competing Risks in High-Dimensional Survival Analysis: </a:t>
            </a:r>
            <a:br>
              <a:rPr lang="en-US" sz="5333" dirty="0"/>
            </a:br>
            <a:r>
              <a:rPr lang="en-US" sz="4800" dirty="0"/>
              <a:t>a Bayesian Spike-and-Slab LASSO Approach</a:t>
            </a:r>
            <a:endParaRPr lang="en-US" sz="3200" dirty="0"/>
          </a:p>
        </p:txBody>
      </p:sp>
      <p:sp>
        <p:nvSpPr>
          <p:cNvPr id="3" name="Subtitle 2">
            <a:extLst>
              <a:ext uri="{FF2B5EF4-FFF2-40B4-BE49-F238E27FC236}">
                <a16:creationId xmlns:a16="http://schemas.microsoft.com/office/drawing/2014/main" id="{4910FC70-0166-6E10-B29C-D6CC03BE7598}"/>
              </a:ext>
            </a:extLst>
          </p:cNvPr>
          <p:cNvSpPr>
            <a:spLocks noGrp="1"/>
          </p:cNvSpPr>
          <p:nvPr>
            <p:ph type="subTitle" idx="4294967295"/>
          </p:nvPr>
        </p:nvSpPr>
        <p:spPr>
          <a:xfrm>
            <a:off x="178676" y="4648131"/>
            <a:ext cx="9144000" cy="1655762"/>
          </a:xfrm>
        </p:spPr>
        <p:txBody>
          <a:bodyPr>
            <a:normAutofit fontScale="92500" lnSpcReduction="10000"/>
          </a:bodyPr>
          <a:lstStyle/>
          <a:p>
            <a:pPr marL="0" indent="0">
              <a:buNone/>
            </a:pPr>
            <a:r>
              <a:rPr lang="en-US" dirty="0">
                <a:solidFill>
                  <a:schemeClr val="bg2">
                    <a:lumMod val="10000"/>
                  </a:schemeClr>
                </a:solidFill>
              </a:rPr>
              <a:t>Sophie Huebler</a:t>
            </a:r>
          </a:p>
          <a:p>
            <a:pPr marL="0" indent="0">
              <a:buNone/>
            </a:pPr>
            <a:r>
              <a:rPr lang="en-US" sz="2400" dirty="0">
                <a:solidFill>
                  <a:schemeClr val="bg2">
                    <a:lumMod val="10000"/>
                  </a:schemeClr>
                </a:solidFill>
              </a:rPr>
              <a:t>University of Utah</a:t>
            </a:r>
          </a:p>
          <a:p>
            <a:pPr marL="0" indent="0">
              <a:buNone/>
            </a:pPr>
            <a:r>
              <a:rPr lang="en-US" sz="2400" dirty="0">
                <a:solidFill>
                  <a:schemeClr val="bg2">
                    <a:lumMod val="10000"/>
                  </a:schemeClr>
                </a:solidFill>
              </a:rPr>
              <a:t>Population Health Science - Biostats: PhD Student </a:t>
            </a:r>
          </a:p>
          <a:p>
            <a:pPr marL="0" indent="0">
              <a:buNone/>
            </a:pPr>
            <a:r>
              <a:rPr lang="en-US" sz="2400" dirty="0">
                <a:solidFill>
                  <a:schemeClr val="bg2">
                    <a:lumMod val="10000"/>
                  </a:schemeClr>
                </a:solidFill>
              </a:rPr>
              <a:t>Huntsman Cancer Institute: Oncological Data Science Trainee</a:t>
            </a:r>
          </a:p>
        </p:txBody>
      </p:sp>
    </p:spTree>
    <p:extLst>
      <p:ext uri="{BB962C8B-B14F-4D97-AF65-F5344CB8AC3E}">
        <p14:creationId xmlns:p14="http://schemas.microsoft.com/office/powerpoint/2010/main" val="506203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49CD1948-1304-9FA1-D57B-F1AEEE4CE6DF}"/>
              </a:ext>
            </a:extLst>
          </p:cNvPr>
          <p:cNvSpPr/>
          <p:nvPr/>
        </p:nvSpPr>
        <p:spPr>
          <a:xfrm>
            <a:off x="838200" y="2360302"/>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7D5312-F36F-0E85-B9F7-54894DE993A6}"/>
              </a:ext>
            </a:extLst>
          </p:cNvPr>
          <p:cNvSpPr txBox="1"/>
          <p:nvPr/>
        </p:nvSpPr>
        <p:spPr>
          <a:xfrm>
            <a:off x="1253986" y="3167390"/>
            <a:ext cx="1722783" cy="523220"/>
          </a:xfrm>
          <a:prstGeom prst="rect">
            <a:avLst/>
          </a:prstGeom>
          <a:noFill/>
        </p:spPr>
        <p:txBody>
          <a:bodyPr wrap="square" rtlCol="0">
            <a:spAutoFit/>
          </a:bodyPr>
          <a:lstStyle/>
          <a:p>
            <a:pPr algn="ctr"/>
            <a:r>
              <a:rPr lang="en-US" sz="2800" dirty="0">
                <a:solidFill>
                  <a:schemeClr val="bg1"/>
                </a:solidFill>
              </a:rPr>
              <a:t>Outcome</a:t>
            </a:r>
          </a:p>
        </p:txBody>
      </p:sp>
      <p:sp>
        <p:nvSpPr>
          <p:cNvPr id="7" name="Oval 6">
            <a:extLst>
              <a:ext uri="{FF2B5EF4-FFF2-40B4-BE49-F238E27FC236}">
                <a16:creationId xmlns:a16="http://schemas.microsoft.com/office/drawing/2014/main" id="{870FB7F5-9645-ABA4-8C2F-C71EADB8A283}"/>
              </a:ext>
            </a:extLst>
          </p:cNvPr>
          <p:cNvSpPr/>
          <p:nvPr/>
        </p:nvSpPr>
        <p:spPr>
          <a:xfrm>
            <a:off x="4818821" y="1029994"/>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33FFB4C-EB05-9880-208A-86C8B938E45F}"/>
              </a:ext>
            </a:extLst>
          </p:cNvPr>
          <p:cNvSpPr txBox="1"/>
          <p:nvPr/>
        </p:nvSpPr>
        <p:spPr>
          <a:xfrm>
            <a:off x="5234606" y="1548442"/>
            <a:ext cx="1722783" cy="954107"/>
          </a:xfrm>
          <a:prstGeom prst="rect">
            <a:avLst/>
          </a:prstGeom>
          <a:noFill/>
        </p:spPr>
        <p:txBody>
          <a:bodyPr wrap="square" rtlCol="0">
            <a:spAutoFit/>
          </a:bodyPr>
          <a:lstStyle/>
          <a:p>
            <a:pPr algn="ctr"/>
            <a:r>
              <a:rPr lang="en-US" sz="2800" dirty="0">
                <a:solidFill>
                  <a:schemeClr val="bg1"/>
                </a:solidFill>
              </a:rPr>
              <a:t>Model Structure </a:t>
            </a:r>
          </a:p>
        </p:txBody>
      </p:sp>
      <p:sp>
        <p:nvSpPr>
          <p:cNvPr id="9" name="Oval 8">
            <a:extLst>
              <a:ext uri="{FF2B5EF4-FFF2-40B4-BE49-F238E27FC236}">
                <a16:creationId xmlns:a16="http://schemas.microsoft.com/office/drawing/2014/main" id="{E9A85048-BF6E-26F1-0B4C-71AAC468B07F}"/>
              </a:ext>
            </a:extLst>
          </p:cNvPr>
          <p:cNvSpPr/>
          <p:nvPr/>
        </p:nvSpPr>
        <p:spPr>
          <a:xfrm>
            <a:off x="4818821" y="3690610"/>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3DEAF7-E859-A1FD-5045-0639C78A1371}"/>
              </a:ext>
            </a:extLst>
          </p:cNvPr>
          <p:cNvSpPr txBox="1"/>
          <p:nvPr/>
        </p:nvSpPr>
        <p:spPr>
          <a:xfrm>
            <a:off x="5082207" y="4282254"/>
            <a:ext cx="2027585" cy="954107"/>
          </a:xfrm>
          <a:prstGeom prst="rect">
            <a:avLst/>
          </a:prstGeom>
          <a:noFill/>
        </p:spPr>
        <p:txBody>
          <a:bodyPr wrap="square" rtlCol="0">
            <a:spAutoFit/>
          </a:bodyPr>
          <a:lstStyle/>
          <a:p>
            <a:pPr algn="ctr"/>
            <a:r>
              <a:rPr lang="en-US" sz="2800" dirty="0">
                <a:solidFill>
                  <a:schemeClr val="bg1"/>
                </a:solidFill>
              </a:rPr>
              <a:t>Model </a:t>
            </a:r>
          </a:p>
          <a:p>
            <a:pPr algn="ctr"/>
            <a:r>
              <a:rPr lang="en-US" sz="2800" dirty="0">
                <a:solidFill>
                  <a:schemeClr val="bg1"/>
                </a:solidFill>
              </a:rPr>
              <a:t>Tuning</a:t>
            </a:r>
          </a:p>
        </p:txBody>
      </p:sp>
      <p:sp>
        <p:nvSpPr>
          <p:cNvPr id="11" name="Oval 10">
            <a:extLst>
              <a:ext uri="{FF2B5EF4-FFF2-40B4-BE49-F238E27FC236}">
                <a16:creationId xmlns:a16="http://schemas.microsoft.com/office/drawing/2014/main" id="{543A6FEB-9C57-ACC3-98A7-9E04B19223DE}"/>
              </a:ext>
            </a:extLst>
          </p:cNvPr>
          <p:cNvSpPr/>
          <p:nvPr/>
        </p:nvSpPr>
        <p:spPr>
          <a:xfrm>
            <a:off x="8799442" y="2360302"/>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F473D66-1380-8D55-4579-FDC98AAA14DF}"/>
              </a:ext>
            </a:extLst>
          </p:cNvPr>
          <p:cNvSpPr txBox="1"/>
          <p:nvPr/>
        </p:nvSpPr>
        <p:spPr>
          <a:xfrm>
            <a:off x="9215228" y="2951946"/>
            <a:ext cx="1722783" cy="954107"/>
          </a:xfrm>
          <a:prstGeom prst="rect">
            <a:avLst/>
          </a:prstGeom>
          <a:noFill/>
        </p:spPr>
        <p:txBody>
          <a:bodyPr wrap="square" rtlCol="0">
            <a:spAutoFit/>
          </a:bodyPr>
          <a:lstStyle/>
          <a:p>
            <a:pPr algn="ctr"/>
            <a:r>
              <a:rPr lang="en-US" sz="2800" dirty="0">
                <a:solidFill>
                  <a:schemeClr val="bg1"/>
                </a:solidFill>
              </a:rPr>
              <a:t>Final Model</a:t>
            </a:r>
          </a:p>
        </p:txBody>
      </p:sp>
      <p:cxnSp>
        <p:nvCxnSpPr>
          <p:cNvPr id="14" name="Straight Arrow Connector 13">
            <a:extLst>
              <a:ext uri="{FF2B5EF4-FFF2-40B4-BE49-F238E27FC236}">
                <a16:creationId xmlns:a16="http://schemas.microsoft.com/office/drawing/2014/main" id="{D58872D9-4B27-7F26-B600-7428C9079E37}"/>
              </a:ext>
            </a:extLst>
          </p:cNvPr>
          <p:cNvCxnSpPr>
            <a:cxnSpLocks/>
            <a:stCxn id="5" idx="6"/>
            <a:endCxn id="7" idx="2"/>
          </p:cNvCxnSpPr>
          <p:nvPr/>
        </p:nvCxnSpPr>
        <p:spPr>
          <a:xfrm flipV="1">
            <a:off x="3392557" y="2098692"/>
            <a:ext cx="1426264" cy="13303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189754-4878-9874-E592-75F2943C4DD0}"/>
              </a:ext>
            </a:extLst>
          </p:cNvPr>
          <p:cNvCxnSpPr>
            <a:cxnSpLocks/>
            <a:stCxn id="5" idx="6"/>
            <a:endCxn id="9" idx="2"/>
          </p:cNvCxnSpPr>
          <p:nvPr/>
        </p:nvCxnSpPr>
        <p:spPr>
          <a:xfrm>
            <a:off x="3392557" y="3429000"/>
            <a:ext cx="1426264" cy="13303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D4E16D2-DC0D-1ACF-A3CA-C9E07BC022AD}"/>
              </a:ext>
            </a:extLst>
          </p:cNvPr>
          <p:cNvCxnSpPr>
            <a:cxnSpLocks/>
            <a:stCxn id="7" idx="6"/>
            <a:endCxn id="11" idx="2"/>
          </p:cNvCxnSpPr>
          <p:nvPr/>
        </p:nvCxnSpPr>
        <p:spPr>
          <a:xfrm>
            <a:off x="7373178" y="2098692"/>
            <a:ext cx="1426264" cy="13303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26407E0-10FF-0D14-B3AC-33F5514404D6}"/>
              </a:ext>
            </a:extLst>
          </p:cNvPr>
          <p:cNvCxnSpPr>
            <a:cxnSpLocks/>
            <a:stCxn id="9" idx="6"/>
            <a:endCxn id="11" idx="2"/>
          </p:cNvCxnSpPr>
          <p:nvPr/>
        </p:nvCxnSpPr>
        <p:spPr>
          <a:xfrm flipV="1">
            <a:off x="7373178" y="3429000"/>
            <a:ext cx="1426264" cy="13303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976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A35A2-74C8-BB58-38DB-CF605011D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74428-8B93-6776-58DD-574EC7FEC824}"/>
              </a:ext>
            </a:extLst>
          </p:cNvPr>
          <p:cNvSpPr>
            <a:spLocks noGrp="1"/>
          </p:cNvSpPr>
          <p:nvPr>
            <p:ph type="title"/>
          </p:nvPr>
        </p:nvSpPr>
        <p:spPr/>
        <p:txBody>
          <a:bodyPr/>
          <a:lstStyle/>
          <a:p>
            <a:r>
              <a:rPr lang="en-US" dirty="0"/>
              <a:t>Context</a:t>
            </a:r>
          </a:p>
        </p:txBody>
      </p:sp>
      <p:pic>
        <p:nvPicPr>
          <p:cNvPr id="9" name="Content Placeholder 11">
            <a:extLst>
              <a:ext uri="{FF2B5EF4-FFF2-40B4-BE49-F238E27FC236}">
                <a16:creationId xmlns:a16="http://schemas.microsoft.com/office/drawing/2014/main" id="{8B996AF7-1B7C-86AB-8427-1F5B333589DE}"/>
              </a:ext>
            </a:extLst>
          </p:cNvPr>
          <p:cNvPicPr>
            <a:picLocks noGrp="1" noChangeAspect="1"/>
          </p:cNvPicPr>
          <p:nvPr>
            <p:ph idx="1"/>
          </p:nvPr>
        </p:nvPicPr>
        <p:blipFill>
          <a:blip r:embed="rId3"/>
          <a:stretch>
            <a:fillRect/>
          </a:stretch>
        </p:blipFill>
        <p:spPr>
          <a:xfrm>
            <a:off x="3481288" y="1467965"/>
            <a:ext cx="5229424" cy="3922069"/>
          </a:xfrm>
          <a:prstGeom prst="rect">
            <a:avLst/>
          </a:prstGeom>
        </p:spPr>
      </p:pic>
      <p:sp>
        <p:nvSpPr>
          <p:cNvPr id="22" name="TextBox 21">
            <a:extLst>
              <a:ext uri="{FF2B5EF4-FFF2-40B4-BE49-F238E27FC236}">
                <a16:creationId xmlns:a16="http://schemas.microsoft.com/office/drawing/2014/main" id="{061634DE-0049-2ECF-2880-206D7F98FC39}"/>
              </a:ext>
            </a:extLst>
          </p:cNvPr>
          <p:cNvSpPr txBox="1"/>
          <p:nvPr/>
        </p:nvSpPr>
        <p:spPr>
          <a:xfrm>
            <a:off x="838199" y="1690688"/>
            <a:ext cx="2424019"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2">
                    <a:lumMod val="10000"/>
                  </a:schemeClr>
                </a:solidFill>
              </a:rPr>
              <a:t>High dimensional  (n &lt; p)</a:t>
            </a:r>
          </a:p>
          <a:p>
            <a:pPr marL="342900" indent="-342900">
              <a:buFont typeface="Arial" panose="020B0604020202020204" pitchFamily="34" charset="0"/>
              <a:buChar char="•"/>
            </a:pPr>
            <a:endParaRPr lang="en-US" sz="2400" dirty="0">
              <a:solidFill>
                <a:schemeClr val="bg2">
                  <a:lumMod val="10000"/>
                </a:schemeClr>
              </a:solidFill>
            </a:endParaRPr>
          </a:p>
          <a:p>
            <a:pPr marL="285750" indent="-285750">
              <a:buFont typeface="Arial" panose="020B0604020202020204" pitchFamily="34" charset="0"/>
              <a:buChar char="•"/>
            </a:pPr>
            <a:r>
              <a:rPr lang="en-US" sz="2400" dirty="0">
                <a:solidFill>
                  <a:schemeClr val="bg2">
                    <a:lumMod val="10000"/>
                  </a:schemeClr>
                </a:solidFill>
              </a:rPr>
              <a:t>Time-to-event outcomes</a:t>
            </a:r>
          </a:p>
          <a:p>
            <a:pPr marL="285750" indent="-285750">
              <a:buFont typeface="Arial" panose="020B0604020202020204" pitchFamily="34" charset="0"/>
              <a:buChar char="•"/>
            </a:pPr>
            <a:endParaRPr lang="en-US" sz="2400" dirty="0">
              <a:solidFill>
                <a:schemeClr val="bg2">
                  <a:lumMod val="10000"/>
                </a:schemeClr>
              </a:solidFill>
            </a:endParaRPr>
          </a:p>
          <a:p>
            <a:pPr marL="285750" indent="-285750">
              <a:buFont typeface="Arial" panose="020B0604020202020204" pitchFamily="34" charset="0"/>
              <a:buChar char="•"/>
            </a:pPr>
            <a:r>
              <a:rPr lang="en-US" sz="2400" dirty="0">
                <a:solidFill>
                  <a:schemeClr val="bg2">
                    <a:lumMod val="10000"/>
                  </a:schemeClr>
                </a:solidFill>
              </a:rPr>
              <a:t>Interpretability &gt;&gt; predictive accuracy</a:t>
            </a:r>
          </a:p>
          <a:p>
            <a:pPr marL="285750" indent="-285750">
              <a:buFont typeface="Arial" panose="020B0604020202020204" pitchFamily="34" charset="0"/>
              <a:buChar char="•"/>
            </a:pPr>
            <a:endParaRPr lang="en-US" sz="2400" dirty="0">
              <a:solidFill>
                <a:schemeClr val="bg2">
                  <a:lumMod val="10000"/>
                </a:schemeClr>
              </a:solidFill>
            </a:endParaRPr>
          </a:p>
        </p:txBody>
      </p:sp>
      <p:grpSp>
        <p:nvGrpSpPr>
          <p:cNvPr id="14" name="Group 13">
            <a:extLst>
              <a:ext uri="{FF2B5EF4-FFF2-40B4-BE49-F238E27FC236}">
                <a16:creationId xmlns:a16="http://schemas.microsoft.com/office/drawing/2014/main" id="{9E6EBF8E-999D-5F03-53F5-E75270FB0AA3}"/>
              </a:ext>
            </a:extLst>
          </p:cNvPr>
          <p:cNvGrpSpPr/>
          <p:nvPr/>
        </p:nvGrpSpPr>
        <p:grpSpPr>
          <a:xfrm>
            <a:off x="9289774" y="1518513"/>
            <a:ext cx="2612784" cy="4130001"/>
            <a:chOff x="9475304" y="2362874"/>
            <a:chExt cx="2612784" cy="4130001"/>
          </a:xfrm>
        </p:grpSpPr>
        <p:sp>
          <p:nvSpPr>
            <p:cNvPr id="12" name="Rounded Rectangle 11">
              <a:extLst>
                <a:ext uri="{FF2B5EF4-FFF2-40B4-BE49-F238E27FC236}">
                  <a16:creationId xmlns:a16="http://schemas.microsoft.com/office/drawing/2014/main" id="{58FEF4E5-C389-A048-B67A-DDBB17D2B490}"/>
                </a:ext>
              </a:extLst>
            </p:cNvPr>
            <p:cNvSpPr/>
            <p:nvPr/>
          </p:nvSpPr>
          <p:spPr>
            <a:xfrm>
              <a:off x="9475304" y="2362874"/>
              <a:ext cx="2612784" cy="4130001"/>
            </a:xfrm>
            <a:prstGeom prst="roundRect">
              <a:avLst/>
            </a:prstGeom>
            <a:solidFill>
              <a:srgbClr val="F2D9C8"/>
            </a:solid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542FB50-4FE9-DEAD-292F-6C935ACB49A9}"/>
                </a:ext>
              </a:extLst>
            </p:cNvPr>
            <p:cNvSpPr txBox="1"/>
            <p:nvPr/>
          </p:nvSpPr>
          <p:spPr>
            <a:xfrm>
              <a:off x="9694372" y="2614017"/>
              <a:ext cx="2174647" cy="646331"/>
            </a:xfrm>
            <a:prstGeom prst="rect">
              <a:avLst/>
            </a:prstGeom>
            <a:noFill/>
          </p:spPr>
          <p:txBody>
            <a:bodyPr wrap="square" rtlCol="0">
              <a:spAutoFit/>
            </a:bodyPr>
            <a:lstStyle/>
            <a:p>
              <a:pPr algn="ctr"/>
              <a:r>
                <a:rPr lang="en-US" dirty="0">
                  <a:solidFill>
                    <a:srgbClr val="C8450F"/>
                  </a:solidFill>
                </a:rPr>
                <a:t>Bayesian penalized regression</a:t>
              </a:r>
            </a:p>
          </p:txBody>
        </p:sp>
        <p:sp>
          <p:nvSpPr>
            <p:cNvPr id="13" name="TextBox 12">
              <a:extLst>
                <a:ext uri="{FF2B5EF4-FFF2-40B4-BE49-F238E27FC236}">
                  <a16:creationId xmlns:a16="http://schemas.microsoft.com/office/drawing/2014/main" id="{A3D54024-6A50-F527-F1DF-D8652EE93733}"/>
                </a:ext>
              </a:extLst>
            </p:cNvPr>
            <p:cNvSpPr txBox="1"/>
            <p:nvPr/>
          </p:nvSpPr>
          <p:spPr>
            <a:xfrm>
              <a:off x="9694373" y="3428999"/>
              <a:ext cx="2313388"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lumMod val="10000"/>
                    </a:schemeClr>
                  </a:solidFill>
                </a:rPr>
                <a:t>Simultaneous variable selection and estimation</a:t>
              </a: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r>
                <a:rPr lang="en-US" dirty="0">
                  <a:solidFill>
                    <a:schemeClr val="bg2">
                      <a:lumMod val="10000"/>
                    </a:schemeClr>
                  </a:solidFill>
                </a:rPr>
                <a:t>Can self adapt to sparse signals</a:t>
              </a:r>
            </a:p>
          </p:txBody>
        </p:sp>
      </p:grpSp>
    </p:spTree>
    <p:extLst>
      <p:ext uri="{BB962C8B-B14F-4D97-AF65-F5344CB8AC3E}">
        <p14:creationId xmlns:p14="http://schemas.microsoft.com/office/powerpoint/2010/main" val="15173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75C31-DD5E-464F-0086-EFEACC5E6326}"/>
              </a:ext>
            </a:extLst>
          </p:cNvPr>
          <p:cNvSpPr>
            <a:spLocks noGrp="1"/>
          </p:cNvSpPr>
          <p:nvPr>
            <p:ph type="title"/>
          </p:nvPr>
        </p:nvSpPr>
        <p:spPr/>
        <p:txBody>
          <a:bodyPr>
            <a:normAutofit/>
          </a:bodyPr>
          <a:lstStyle/>
          <a:p>
            <a:r>
              <a:rPr lang="en-US" dirty="0"/>
              <a:t>Bayesian penalized regression:</a:t>
            </a:r>
            <a:br>
              <a:rPr lang="en-US" dirty="0"/>
            </a:br>
            <a:r>
              <a:rPr lang="en-US" dirty="0"/>
              <a:t>Spike-and-Slab LASSO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19E7D8-6E2D-328F-B226-05E63B1CAAEF}"/>
                  </a:ext>
                </a:extLst>
              </p:cNvPr>
              <p:cNvSpPr>
                <a:spLocks noGrp="1"/>
              </p:cNvSpPr>
              <p:nvPr>
                <p:ph idx="1"/>
              </p:nvPr>
            </p:nvSpPr>
            <p:spPr>
              <a:xfrm>
                <a:off x="467140" y="3826082"/>
                <a:ext cx="5443290" cy="1325563"/>
              </a:xfrm>
            </p:spPr>
            <p:txBody>
              <a:bodyPr>
                <a:normAutofit/>
              </a:bodyPr>
              <a:lstStyle/>
              <a:p>
                <a:r>
                  <a:rPr lang="en-US" sz="2400" dirty="0">
                    <a:solidFill>
                      <a:schemeClr val="bg2">
                        <a:lumMod val="10000"/>
                      </a:schemeClr>
                    </a:solidFill>
                  </a:rPr>
                  <a:t>S</a:t>
                </a:r>
                <a:r>
                  <a:rPr lang="en-US" sz="2400" baseline="-25000" dirty="0">
                    <a:solidFill>
                      <a:schemeClr val="bg2">
                        <a:lumMod val="10000"/>
                      </a:schemeClr>
                    </a:solidFill>
                  </a:rPr>
                  <a:t>0 </a:t>
                </a:r>
                <a:r>
                  <a:rPr lang="en-US" sz="2400" dirty="0">
                    <a:solidFill>
                      <a:schemeClr val="bg2">
                        <a:lumMod val="10000"/>
                      </a:schemeClr>
                    </a:solidFill>
                    <a:sym typeface="Wingdings" pitchFamily="2" charset="2"/>
                  </a:rPr>
                  <a:t></a:t>
                </a:r>
                <a:r>
                  <a:rPr lang="en-US" sz="2400" dirty="0">
                    <a:solidFill>
                      <a:schemeClr val="bg2">
                        <a:lumMod val="10000"/>
                      </a:schemeClr>
                    </a:solidFill>
                  </a:rPr>
                  <a:t> Spike </a:t>
                </a:r>
                <a:r>
                  <a:rPr lang="en-US" sz="2400" dirty="0">
                    <a:solidFill>
                      <a:schemeClr val="bg2">
                        <a:lumMod val="10000"/>
                      </a:schemeClr>
                    </a:solidFill>
                    <a:sym typeface="Wingdings" pitchFamily="2" charset="2"/>
                  </a:rPr>
                  <a:t></a:t>
                </a:r>
                <a:r>
                  <a:rPr lang="en-US" sz="2400" dirty="0">
                    <a:solidFill>
                      <a:schemeClr val="bg2">
                        <a:lumMod val="10000"/>
                      </a:schemeClr>
                    </a:solidFill>
                  </a:rPr>
                  <a:t> no signal </a:t>
                </a:r>
                <a:r>
                  <a:rPr lang="en-US" sz="2400" dirty="0">
                    <a:solidFill>
                      <a:schemeClr val="bg2">
                        <a:lumMod val="10000"/>
                      </a:schemeClr>
                    </a:solidFill>
                    <a:sym typeface="Wingdings" pitchFamily="2" charset="2"/>
                  </a:rPr>
                  <a:t></a:t>
                </a:r>
                <a:r>
                  <a:rPr lang="en-US" sz="2400" dirty="0">
                    <a:solidFill>
                      <a:schemeClr val="bg2">
                        <a:lumMod val="10000"/>
                      </a:schemeClr>
                    </a:solidFill>
                  </a:rPr>
                  <a:t> (</a:t>
                </a:r>
                <a14:m>
                  <m:oMath xmlns:m="http://schemas.openxmlformats.org/officeDocument/2006/math">
                    <m:sSub>
                      <m:sSubPr>
                        <m:ctrlPr>
                          <a:rPr lang="en-US" sz="2400" i="1" smtClean="0">
                            <a:solidFill>
                              <a:schemeClr val="bg2">
                                <a:lumMod val="10000"/>
                              </a:schemeClr>
                            </a:solidFill>
                            <a:latin typeface="Cambria Math" panose="02040503050406030204" pitchFamily="18" charset="0"/>
                          </a:rPr>
                        </m:ctrlPr>
                      </m:sSubPr>
                      <m:e>
                        <m:r>
                          <a:rPr lang="en-US" sz="2400" i="1" smtClean="0">
                            <a:solidFill>
                              <a:schemeClr val="bg2">
                                <a:lumMod val="10000"/>
                              </a:schemeClr>
                            </a:solidFill>
                            <a:latin typeface="Cambria Math" panose="02040503050406030204" pitchFamily="18" charset="0"/>
                            <a:ea typeface="Cambria Math" panose="02040503050406030204" pitchFamily="18" charset="0"/>
                          </a:rPr>
                          <m:t>𝛽</m:t>
                        </m:r>
                      </m:e>
                      <m:sub>
                        <m:r>
                          <a:rPr lang="en-US" sz="2400" b="0" i="1" smtClean="0">
                            <a:solidFill>
                              <a:schemeClr val="bg2">
                                <a:lumMod val="10000"/>
                              </a:schemeClr>
                            </a:solidFill>
                            <a:latin typeface="Cambria Math" panose="02040503050406030204" pitchFamily="18" charset="0"/>
                          </a:rPr>
                          <m:t>𝑗</m:t>
                        </m:r>
                      </m:sub>
                    </m:sSub>
                    <m:r>
                      <a:rPr lang="en-US" sz="2400" b="0" i="1" smtClean="0">
                        <a:solidFill>
                          <a:schemeClr val="bg2">
                            <a:lumMod val="10000"/>
                          </a:schemeClr>
                        </a:solidFill>
                        <a:latin typeface="Cambria Math" panose="02040503050406030204" pitchFamily="18" charset="0"/>
                      </a:rPr>
                      <m:t>=0)</m:t>
                    </m:r>
                  </m:oMath>
                </a14:m>
                <a:endParaRPr lang="en-US" sz="2400" dirty="0">
                  <a:solidFill>
                    <a:schemeClr val="bg2">
                      <a:lumMod val="10000"/>
                    </a:schemeClr>
                  </a:solidFill>
                </a:endParaRPr>
              </a:p>
              <a:p>
                <a:r>
                  <a:rPr lang="en-US" sz="2400" dirty="0">
                    <a:solidFill>
                      <a:schemeClr val="bg2">
                        <a:lumMod val="10000"/>
                      </a:schemeClr>
                    </a:solidFill>
                  </a:rPr>
                  <a:t>S</a:t>
                </a:r>
                <a:r>
                  <a:rPr lang="en-US" sz="2400" baseline="-25000" dirty="0">
                    <a:solidFill>
                      <a:schemeClr val="bg2">
                        <a:lumMod val="10000"/>
                      </a:schemeClr>
                    </a:solidFill>
                  </a:rPr>
                  <a:t>1 </a:t>
                </a:r>
                <a:r>
                  <a:rPr lang="en-US" sz="2400" dirty="0">
                    <a:solidFill>
                      <a:schemeClr val="bg2">
                        <a:lumMod val="10000"/>
                      </a:schemeClr>
                    </a:solidFill>
                    <a:sym typeface="Wingdings" pitchFamily="2" charset="2"/>
                  </a:rPr>
                  <a:t></a:t>
                </a:r>
                <a:r>
                  <a:rPr lang="en-US" sz="2400" dirty="0">
                    <a:solidFill>
                      <a:schemeClr val="bg2">
                        <a:lumMod val="10000"/>
                      </a:schemeClr>
                    </a:solidFill>
                  </a:rPr>
                  <a:t>  Slab  </a:t>
                </a:r>
                <a:r>
                  <a:rPr lang="en-US" sz="2400" dirty="0">
                    <a:solidFill>
                      <a:schemeClr val="bg2">
                        <a:lumMod val="10000"/>
                      </a:schemeClr>
                    </a:solidFill>
                    <a:sym typeface="Wingdings" pitchFamily="2" charset="2"/>
                  </a:rPr>
                  <a:t></a:t>
                </a:r>
                <a:r>
                  <a:rPr lang="en-US" sz="2400" dirty="0">
                    <a:solidFill>
                      <a:schemeClr val="bg2">
                        <a:lumMod val="10000"/>
                      </a:schemeClr>
                    </a:solidFill>
                  </a:rPr>
                  <a:t>   signal    </a:t>
                </a:r>
                <a:r>
                  <a:rPr lang="en-US" sz="2400" dirty="0">
                    <a:solidFill>
                      <a:schemeClr val="bg2">
                        <a:lumMod val="10000"/>
                      </a:schemeClr>
                    </a:solidFill>
                    <a:sym typeface="Wingdings" pitchFamily="2" charset="2"/>
                  </a:rPr>
                  <a:t> </a:t>
                </a:r>
                <a:r>
                  <a:rPr lang="en-US" sz="2400" dirty="0">
                    <a:solidFill>
                      <a:schemeClr val="bg2">
                        <a:lumMod val="10000"/>
                      </a:schemeClr>
                    </a:solidFill>
                  </a:rPr>
                  <a:t>(</a:t>
                </a:r>
                <a14:m>
                  <m:oMath xmlns:m="http://schemas.openxmlformats.org/officeDocument/2006/math">
                    <m:sSub>
                      <m:sSubPr>
                        <m:ctrlPr>
                          <a:rPr lang="en-US" sz="2400" i="1">
                            <a:solidFill>
                              <a:schemeClr val="bg2">
                                <a:lumMod val="10000"/>
                              </a:schemeClr>
                            </a:solidFill>
                            <a:latin typeface="Cambria Math" panose="02040503050406030204" pitchFamily="18" charset="0"/>
                          </a:rPr>
                        </m:ctrlPr>
                      </m:sSubPr>
                      <m:e>
                        <m:r>
                          <a:rPr lang="en-US" sz="2400" i="1">
                            <a:solidFill>
                              <a:schemeClr val="bg2">
                                <a:lumMod val="10000"/>
                              </a:schemeClr>
                            </a:solidFill>
                            <a:latin typeface="Cambria Math" panose="02040503050406030204" pitchFamily="18" charset="0"/>
                            <a:ea typeface="Cambria Math" panose="02040503050406030204" pitchFamily="18" charset="0"/>
                          </a:rPr>
                          <m:t>𝛽</m:t>
                        </m:r>
                      </m:e>
                      <m:sub>
                        <m:r>
                          <a:rPr lang="en-US" sz="2400" i="1">
                            <a:solidFill>
                              <a:schemeClr val="bg2">
                                <a:lumMod val="10000"/>
                              </a:schemeClr>
                            </a:solidFill>
                            <a:latin typeface="Cambria Math" panose="02040503050406030204" pitchFamily="18" charset="0"/>
                          </a:rPr>
                          <m:t>𝑗</m:t>
                        </m:r>
                      </m:sub>
                    </m:sSub>
                    <m:r>
                      <a:rPr lang="en-US" sz="2400" i="1" smtClean="0">
                        <a:solidFill>
                          <a:schemeClr val="bg2">
                            <a:lumMod val="10000"/>
                          </a:schemeClr>
                        </a:solidFill>
                        <a:latin typeface="Cambria Math" panose="02040503050406030204" pitchFamily="18" charset="0"/>
                        <a:ea typeface="Cambria Math" panose="02040503050406030204" pitchFamily="18" charset="0"/>
                      </a:rPr>
                      <m:t>≠</m:t>
                    </m:r>
                    <m:r>
                      <a:rPr lang="en-US" sz="2400" i="1">
                        <a:solidFill>
                          <a:schemeClr val="bg2">
                            <a:lumMod val="10000"/>
                          </a:schemeClr>
                        </a:solidFill>
                        <a:latin typeface="Cambria Math" panose="02040503050406030204" pitchFamily="18" charset="0"/>
                      </a:rPr>
                      <m:t>0)</m:t>
                    </m:r>
                  </m:oMath>
                </a14:m>
                <a:endParaRPr lang="en-US" sz="2400" dirty="0">
                  <a:solidFill>
                    <a:schemeClr val="bg2">
                      <a:lumMod val="10000"/>
                    </a:schemeClr>
                  </a:solidFill>
                </a:endParaRPr>
              </a:p>
              <a:p>
                <a:endParaRPr lang="en-US" sz="2400" dirty="0">
                  <a:solidFill>
                    <a:schemeClr val="bg2">
                      <a:lumMod val="10000"/>
                    </a:schemeClr>
                  </a:solidFill>
                </a:endParaRPr>
              </a:p>
            </p:txBody>
          </p:sp>
        </mc:Choice>
        <mc:Fallback>
          <p:sp>
            <p:nvSpPr>
              <p:cNvPr id="3" name="Content Placeholder 2">
                <a:extLst>
                  <a:ext uri="{FF2B5EF4-FFF2-40B4-BE49-F238E27FC236}">
                    <a16:creationId xmlns:a16="http://schemas.microsoft.com/office/drawing/2014/main" id="{6319E7D8-6E2D-328F-B226-05E63B1CAAEF}"/>
                  </a:ext>
                </a:extLst>
              </p:cNvPr>
              <p:cNvSpPr>
                <a:spLocks noGrp="1" noRot="1" noChangeAspect="1" noMove="1" noResize="1" noEditPoints="1" noAdjustHandles="1" noChangeArrowheads="1" noChangeShapeType="1" noTextEdit="1"/>
              </p:cNvSpPr>
              <p:nvPr>
                <p:ph idx="1"/>
              </p:nvPr>
            </p:nvSpPr>
            <p:spPr>
              <a:xfrm>
                <a:off x="467140" y="3826082"/>
                <a:ext cx="5443290" cy="1325563"/>
              </a:xfrm>
              <a:blipFill>
                <a:blip r:embed="rId3"/>
                <a:stretch>
                  <a:fillRect l="-1395" t="-571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17DA828-FE6D-7E92-152E-BE92CA6DE599}"/>
              </a:ext>
            </a:extLst>
          </p:cNvPr>
          <p:cNvPicPr>
            <a:picLocks noChangeAspect="1"/>
          </p:cNvPicPr>
          <p:nvPr/>
        </p:nvPicPr>
        <p:blipFill>
          <a:blip r:embed="rId4"/>
          <a:stretch>
            <a:fillRect/>
          </a:stretch>
        </p:blipFill>
        <p:spPr>
          <a:xfrm>
            <a:off x="5910430" y="1690688"/>
            <a:ext cx="5621767" cy="4464906"/>
          </a:xfrm>
          <a:prstGeom prst="rect">
            <a:avLst/>
          </a:prstGeom>
        </p:spPr>
      </p:pic>
      <p:pic>
        <p:nvPicPr>
          <p:cNvPr id="6" name="Picture 5">
            <a:extLst>
              <a:ext uri="{FF2B5EF4-FFF2-40B4-BE49-F238E27FC236}">
                <a16:creationId xmlns:a16="http://schemas.microsoft.com/office/drawing/2014/main" id="{5CAD586B-1A3D-BA06-06B3-287A78B1A6E2}"/>
              </a:ext>
            </a:extLst>
          </p:cNvPr>
          <p:cNvPicPr>
            <a:picLocks noChangeAspect="1"/>
          </p:cNvPicPr>
          <p:nvPr/>
        </p:nvPicPr>
        <p:blipFill>
          <a:blip r:embed="rId5"/>
          <a:stretch>
            <a:fillRect/>
          </a:stretch>
        </p:blipFill>
        <p:spPr>
          <a:xfrm>
            <a:off x="102458" y="1798882"/>
            <a:ext cx="5697935" cy="1630118"/>
          </a:xfrm>
          <a:prstGeom prst="rect">
            <a:avLst/>
          </a:prstGeom>
        </p:spPr>
      </p:pic>
    </p:spTree>
    <p:extLst>
      <p:ext uri="{BB962C8B-B14F-4D97-AF65-F5344CB8AC3E}">
        <p14:creationId xmlns:p14="http://schemas.microsoft.com/office/powerpoint/2010/main" val="1124882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D3C71-D2F3-A86B-879A-6222F38E1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E7123-CFB3-4CD2-313A-C89E34FDEB39}"/>
              </a:ext>
            </a:extLst>
          </p:cNvPr>
          <p:cNvSpPr>
            <a:spLocks noGrp="1"/>
          </p:cNvSpPr>
          <p:nvPr>
            <p:ph type="title"/>
          </p:nvPr>
        </p:nvSpPr>
        <p:spPr/>
        <p:txBody>
          <a:bodyPr>
            <a:normAutofit/>
          </a:bodyPr>
          <a:lstStyle/>
          <a:p>
            <a:r>
              <a:rPr lang="en-US" dirty="0"/>
              <a:t>Competing risks outcome:</a:t>
            </a:r>
            <a:br>
              <a:rPr lang="en-US" dirty="0"/>
            </a:br>
            <a:endParaRPr lang="en-US" dirty="0"/>
          </a:p>
        </p:txBody>
      </p:sp>
      <p:pic>
        <p:nvPicPr>
          <p:cNvPr id="39" name="Picture 2">
            <a:extLst>
              <a:ext uri="{FF2B5EF4-FFF2-40B4-BE49-F238E27FC236}">
                <a16:creationId xmlns:a16="http://schemas.microsoft.com/office/drawing/2014/main" id="{4670E472-0178-F166-77A8-E2F2DBEE35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7614"/>
          <a:stretch>
            <a:fillRect/>
          </a:stretch>
        </p:blipFill>
        <p:spPr bwMode="auto">
          <a:xfrm>
            <a:off x="331305" y="1674776"/>
            <a:ext cx="5040640" cy="41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347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29E0-7095-F0AC-14DF-0A783699E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015CD-4CEF-4CB2-7C73-D04A0CA0D88C}"/>
              </a:ext>
            </a:extLst>
          </p:cNvPr>
          <p:cNvSpPr>
            <a:spLocks noGrp="1"/>
          </p:cNvSpPr>
          <p:nvPr>
            <p:ph type="title"/>
          </p:nvPr>
        </p:nvSpPr>
        <p:spPr/>
        <p:txBody>
          <a:bodyPr>
            <a:normAutofit/>
          </a:bodyPr>
          <a:lstStyle/>
          <a:p>
            <a:r>
              <a:rPr lang="en-US" dirty="0"/>
              <a:t>Competing risks outcome:</a:t>
            </a:r>
            <a:br>
              <a:rPr lang="en-US" dirty="0"/>
            </a:br>
            <a:endParaRPr lang="en-US" dirty="0"/>
          </a:p>
        </p:txBody>
      </p:sp>
      <p:grpSp>
        <p:nvGrpSpPr>
          <p:cNvPr id="3" name="Group 2">
            <a:extLst>
              <a:ext uri="{FF2B5EF4-FFF2-40B4-BE49-F238E27FC236}">
                <a16:creationId xmlns:a16="http://schemas.microsoft.com/office/drawing/2014/main" id="{53F9CCC7-4500-86FF-4771-CC499941EC48}"/>
              </a:ext>
            </a:extLst>
          </p:cNvPr>
          <p:cNvGrpSpPr/>
          <p:nvPr/>
        </p:nvGrpSpPr>
        <p:grpSpPr>
          <a:xfrm>
            <a:off x="6604369" y="1206397"/>
            <a:ext cx="3912451" cy="2584743"/>
            <a:chOff x="6217920" y="3299908"/>
            <a:chExt cx="4421392" cy="3047104"/>
          </a:xfrm>
        </p:grpSpPr>
        <p:sp>
          <p:nvSpPr>
            <p:cNvPr id="4" name="Oval 3">
              <a:extLst>
                <a:ext uri="{FF2B5EF4-FFF2-40B4-BE49-F238E27FC236}">
                  <a16:creationId xmlns:a16="http://schemas.microsoft.com/office/drawing/2014/main" id="{755B44A3-0189-D112-928E-8C686460FA9F}"/>
                </a:ext>
              </a:extLst>
            </p:cNvPr>
            <p:cNvSpPr/>
            <p:nvPr/>
          </p:nvSpPr>
          <p:spPr>
            <a:xfrm>
              <a:off x="6217920" y="3299908"/>
              <a:ext cx="4421392" cy="30471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C89CFB4-A7B3-CB71-79D9-98F36805C704}"/>
                </a:ext>
              </a:extLst>
            </p:cNvPr>
            <p:cNvSpPr txBox="1"/>
            <p:nvPr/>
          </p:nvSpPr>
          <p:spPr>
            <a:xfrm>
              <a:off x="6755802" y="3622634"/>
              <a:ext cx="3496236" cy="2398690"/>
            </a:xfrm>
            <a:prstGeom prst="rect">
              <a:avLst/>
            </a:prstGeom>
            <a:noFill/>
          </p:spPr>
          <p:txBody>
            <a:bodyPr wrap="square" rtlCol="0">
              <a:spAutoFit/>
            </a:bodyPr>
            <a:lstStyle/>
            <a:p>
              <a:pPr algn="ctr"/>
              <a:r>
                <a:rPr lang="en-US" sz="1600" dirty="0">
                  <a:solidFill>
                    <a:schemeClr val="bg1"/>
                  </a:solidFill>
                </a:rPr>
                <a:t>FACT: </a:t>
              </a:r>
            </a:p>
            <a:p>
              <a:pPr algn="ctr"/>
              <a:r>
                <a:rPr lang="en-US" sz="1600" dirty="0">
                  <a:solidFill>
                    <a:schemeClr val="bg1"/>
                  </a:solidFill>
                </a:rPr>
                <a:t>Censoring and competing risks are </a:t>
              </a:r>
              <a:r>
                <a:rPr lang="en-US" sz="1600" u="sng" dirty="0">
                  <a:solidFill>
                    <a:schemeClr val="bg1"/>
                  </a:solidFill>
                </a:rPr>
                <a:t>fundamentally</a:t>
              </a:r>
              <a:r>
                <a:rPr lang="en-US" sz="1600" dirty="0">
                  <a:solidFill>
                    <a:schemeClr val="bg1"/>
                  </a:solidFill>
                </a:rPr>
                <a:t> different</a:t>
              </a:r>
            </a:p>
            <a:p>
              <a:pPr marL="742950" lvl="1" indent="-285750">
                <a:buFont typeface="Arial" panose="020B0604020202020204" pitchFamily="34" charset="0"/>
                <a:buChar char="•"/>
              </a:pPr>
              <a:r>
                <a:rPr lang="en-US" sz="1600" dirty="0">
                  <a:solidFill>
                    <a:schemeClr val="bg1"/>
                  </a:solidFill>
                </a:rPr>
                <a:t>B could experience the event unobserved</a:t>
              </a:r>
            </a:p>
            <a:p>
              <a:pPr marL="742950" lvl="1" indent="-285750">
                <a:buFont typeface="Arial" panose="020B0604020202020204" pitchFamily="34" charset="0"/>
                <a:buChar char="•"/>
              </a:pPr>
              <a:r>
                <a:rPr lang="en-US" sz="1600" dirty="0">
                  <a:solidFill>
                    <a:schemeClr val="bg1"/>
                  </a:solidFill>
                </a:rPr>
                <a:t>E </a:t>
              </a:r>
              <a:r>
                <a:rPr lang="en-US" sz="1600" u="sng" dirty="0">
                  <a:solidFill>
                    <a:schemeClr val="bg1"/>
                  </a:solidFill>
                </a:rPr>
                <a:t>cannot </a:t>
              </a:r>
              <a:r>
                <a:rPr lang="en-US" sz="1600" dirty="0">
                  <a:solidFill>
                    <a:schemeClr val="bg1"/>
                  </a:solidFill>
                </a:rPr>
                <a:t>experience the event</a:t>
              </a:r>
              <a:endParaRPr lang="en-US" sz="1600" u="sng" dirty="0">
                <a:solidFill>
                  <a:schemeClr val="bg1"/>
                </a:solidFill>
              </a:endParaRPr>
            </a:p>
            <a:p>
              <a:pPr algn="ctr"/>
              <a:endParaRPr lang="en-US" sz="1600" dirty="0">
                <a:solidFill>
                  <a:schemeClr val="bg1"/>
                </a:solidFill>
              </a:endParaRPr>
            </a:p>
          </p:txBody>
        </p:sp>
      </p:grpSp>
      <p:pic>
        <p:nvPicPr>
          <p:cNvPr id="8" name="Picture 2">
            <a:extLst>
              <a:ext uri="{FF2B5EF4-FFF2-40B4-BE49-F238E27FC236}">
                <a16:creationId xmlns:a16="http://schemas.microsoft.com/office/drawing/2014/main" id="{62B8EDB5-C65F-FD26-664F-1BAA7B5D5B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7614"/>
          <a:stretch>
            <a:fillRect/>
          </a:stretch>
        </p:blipFill>
        <p:spPr bwMode="auto">
          <a:xfrm>
            <a:off x="331305" y="1674776"/>
            <a:ext cx="5040640" cy="41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767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511B-C1D6-B6DC-D7D2-E06A713C3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4D7DB-40D4-386F-1CF1-30A13BC12E93}"/>
              </a:ext>
            </a:extLst>
          </p:cNvPr>
          <p:cNvSpPr>
            <a:spLocks noGrp="1"/>
          </p:cNvSpPr>
          <p:nvPr>
            <p:ph type="title"/>
          </p:nvPr>
        </p:nvSpPr>
        <p:spPr/>
        <p:txBody>
          <a:bodyPr>
            <a:normAutofit/>
          </a:bodyPr>
          <a:lstStyle/>
          <a:p>
            <a:r>
              <a:rPr lang="en-US" dirty="0"/>
              <a:t>Competing risks outcome:</a:t>
            </a:r>
            <a:br>
              <a:rPr lang="en-US" dirty="0"/>
            </a:br>
            <a:endParaRPr lang="en-US" dirty="0"/>
          </a:p>
        </p:txBody>
      </p:sp>
      <p:grpSp>
        <p:nvGrpSpPr>
          <p:cNvPr id="3" name="Group 2">
            <a:extLst>
              <a:ext uri="{FF2B5EF4-FFF2-40B4-BE49-F238E27FC236}">
                <a16:creationId xmlns:a16="http://schemas.microsoft.com/office/drawing/2014/main" id="{4B448361-974F-02EB-EF11-0649C688017B}"/>
              </a:ext>
            </a:extLst>
          </p:cNvPr>
          <p:cNvGrpSpPr/>
          <p:nvPr/>
        </p:nvGrpSpPr>
        <p:grpSpPr>
          <a:xfrm>
            <a:off x="6604369" y="1206397"/>
            <a:ext cx="3912451" cy="2584743"/>
            <a:chOff x="6217920" y="3299908"/>
            <a:chExt cx="4421392" cy="3047104"/>
          </a:xfrm>
        </p:grpSpPr>
        <p:sp>
          <p:nvSpPr>
            <p:cNvPr id="4" name="Oval 3">
              <a:extLst>
                <a:ext uri="{FF2B5EF4-FFF2-40B4-BE49-F238E27FC236}">
                  <a16:creationId xmlns:a16="http://schemas.microsoft.com/office/drawing/2014/main" id="{54EE63C6-62F1-FCD4-8E54-338B1FB8E84A}"/>
                </a:ext>
              </a:extLst>
            </p:cNvPr>
            <p:cNvSpPr/>
            <p:nvPr/>
          </p:nvSpPr>
          <p:spPr>
            <a:xfrm>
              <a:off x="6217920" y="3299908"/>
              <a:ext cx="4421392" cy="30471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3AD587B-E833-D743-F1DF-BB9715FC197D}"/>
                </a:ext>
              </a:extLst>
            </p:cNvPr>
            <p:cNvSpPr txBox="1"/>
            <p:nvPr/>
          </p:nvSpPr>
          <p:spPr>
            <a:xfrm>
              <a:off x="6755802" y="3622634"/>
              <a:ext cx="3496236" cy="2398690"/>
            </a:xfrm>
            <a:prstGeom prst="rect">
              <a:avLst/>
            </a:prstGeom>
            <a:noFill/>
          </p:spPr>
          <p:txBody>
            <a:bodyPr wrap="square" rtlCol="0">
              <a:spAutoFit/>
            </a:bodyPr>
            <a:lstStyle/>
            <a:p>
              <a:pPr algn="ctr"/>
              <a:r>
                <a:rPr lang="en-US" sz="1600" dirty="0">
                  <a:solidFill>
                    <a:schemeClr val="bg1"/>
                  </a:solidFill>
                </a:rPr>
                <a:t>FACT: </a:t>
              </a:r>
            </a:p>
            <a:p>
              <a:pPr algn="ctr"/>
              <a:r>
                <a:rPr lang="en-US" sz="1600" dirty="0">
                  <a:solidFill>
                    <a:schemeClr val="bg1"/>
                  </a:solidFill>
                </a:rPr>
                <a:t>Censoring and competing risks are </a:t>
              </a:r>
              <a:r>
                <a:rPr lang="en-US" sz="1600" u="sng" dirty="0">
                  <a:solidFill>
                    <a:schemeClr val="bg1"/>
                  </a:solidFill>
                </a:rPr>
                <a:t>fundamentally</a:t>
              </a:r>
              <a:r>
                <a:rPr lang="en-US" sz="1600" dirty="0">
                  <a:solidFill>
                    <a:schemeClr val="bg1"/>
                  </a:solidFill>
                </a:rPr>
                <a:t> different</a:t>
              </a:r>
            </a:p>
            <a:p>
              <a:pPr marL="742950" lvl="1" indent="-285750">
                <a:buFont typeface="Arial" panose="020B0604020202020204" pitchFamily="34" charset="0"/>
                <a:buChar char="•"/>
              </a:pPr>
              <a:r>
                <a:rPr lang="en-US" sz="1600" dirty="0">
                  <a:solidFill>
                    <a:schemeClr val="bg1"/>
                  </a:solidFill>
                </a:rPr>
                <a:t>B could experience the event unobserved</a:t>
              </a:r>
            </a:p>
            <a:p>
              <a:pPr marL="742950" lvl="1" indent="-285750">
                <a:buFont typeface="Arial" panose="020B0604020202020204" pitchFamily="34" charset="0"/>
                <a:buChar char="•"/>
              </a:pPr>
              <a:r>
                <a:rPr lang="en-US" sz="1600" dirty="0">
                  <a:solidFill>
                    <a:schemeClr val="bg1"/>
                  </a:solidFill>
                </a:rPr>
                <a:t>E </a:t>
              </a:r>
              <a:r>
                <a:rPr lang="en-US" sz="1600" u="sng" dirty="0">
                  <a:solidFill>
                    <a:schemeClr val="bg1"/>
                  </a:solidFill>
                </a:rPr>
                <a:t>cannot </a:t>
              </a:r>
              <a:r>
                <a:rPr lang="en-US" sz="1600" dirty="0">
                  <a:solidFill>
                    <a:schemeClr val="bg1"/>
                  </a:solidFill>
                </a:rPr>
                <a:t>experience the event</a:t>
              </a:r>
              <a:endParaRPr lang="en-US" sz="1600" u="sng" dirty="0">
                <a:solidFill>
                  <a:schemeClr val="bg1"/>
                </a:solidFill>
              </a:endParaRPr>
            </a:p>
            <a:p>
              <a:pPr algn="ctr"/>
              <a:endParaRPr lang="en-US" sz="1600" dirty="0">
                <a:solidFill>
                  <a:schemeClr val="bg1"/>
                </a:solidFill>
              </a:endParaRPr>
            </a:p>
          </p:txBody>
        </p:sp>
      </p:grpSp>
      <p:pic>
        <p:nvPicPr>
          <p:cNvPr id="6" name="Picture 2">
            <a:extLst>
              <a:ext uri="{FF2B5EF4-FFF2-40B4-BE49-F238E27FC236}">
                <a16:creationId xmlns:a16="http://schemas.microsoft.com/office/drawing/2014/main" id="{BBDD3FBC-0F62-5D9E-9DCA-EE432960F6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7614"/>
          <a:stretch>
            <a:fillRect/>
          </a:stretch>
        </p:blipFill>
        <p:spPr bwMode="auto">
          <a:xfrm>
            <a:off x="331305" y="1674776"/>
            <a:ext cx="5040640" cy="415762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7D53AF8B-AC8F-123A-B93E-6658F7AE0E9C}"/>
              </a:ext>
            </a:extLst>
          </p:cNvPr>
          <p:cNvCxnSpPr>
            <a:cxnSpLocks/>
          </p:cNvCxnSpPr>
          <p:nvPr/>
        </p:nvCxnSpPr>
        <p:spPr>
          <a:xfrm flipH="1">
            <a:off x="6737641" y="3429000"/>
            <a:ext cx="498825" cy="48367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9DF7CE-4395-E7AD-6D52-B4433EBA97B5}"/>
              </a:ext>
            </a:extLst>
          </p:cNvPr>
          <p:cNvCxnSpPr>
            <a:cxnSpLocks/>
          </p:cNvCxnSpPr>
          <p:nvPr/>
        </p:nvCxnSpPr>
        <p:spPr>
          <a:xfrm>
            <a:off x="9912626" y="3420149"/>
            <a:ext cx="435508" cy="4606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BD763FCE-18C8-A910-06BD-134F295CD3A6}"/>
              </a:ext>
            </a:extLst>
          </p:cNvPr>
          <p:cNvGrpSpPr/>
          <p:nvPr/>
        </p:nvGrpSpPr>
        <p:grpSpPr>
          <a:xfrm>
            <a:off x="9023183" y="4188309"/>
            <a:ext cx="2554358" cy="2283452"/>
            <a:chOff x="9364316" y="4286821"/>
            <a:chExt cx="2554358" cy="2283452"/>
          </a:xfrm>
        </p:grpSpPr>
        <p:sp>
          <p:nvSpPr>
            <p:cNvPr id="19" name="Oval 18">
              <a:extLst>
                <a:ext uri="{FF2B5EF4-FFF2-40B4-BE49-F238E27FC236}">
                  <a16:creationId xmlns:a16="http://schemas.microsoft.com/office/drawing/2014/main" id="{5C3C9B1E-AB79-84F4-20C5-0979CAD526B8}"/>
                </a:ext>
              </a:extLst>
            </p:cNvPr>
            <p:cNvSpPr/>
            <p:nvPr/>
          </p:nvSpPr>
          <p:spPr>
            <a:xfrm>
              <a:off x="9364317" y="4432877"/>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15FF725-F2F1-0922-1E23-708661754E85}"/>
                </a:ext>
              </a:extLst>
            </p:cNvPr>
            <p:cNvSpPr txBox="1"/>
            <p:nvPr/>
          </p:nvSpPr>
          <p:spPr>
            <a:xfrm>
              <a:off x="9364316" y="5113486"/>
              <a:ext cx="2554358" cy="830997"/>
            </a:xfrm>
            <a:prstGeom prst="rect">
              <a:avLst/>
            </a:prstGeom>
            <a:noFill/>
          </p:spPr>
          <p:txBody>
            <a:bodyPr wrap="square" rtlCol="0">
              <a:spAutoFit/>
            </a:bodyPr>
            <a:lstStyle/>
            <a:p>
              <a:pPr algn="ctr"/>
              <a:r>
                <a:rPr lang="en-US" sz="1600" dirty="0">
                  <a:solidFill>
                    <a:schemeClr val="bg1"/>
                  </a:solidFill>
                </a:rPr>
                <a:t>Wolber’s C-index</a:t>
              </a:r>
            </a:p>
            <a:p>
              <a:pPr algn="ctr"/>
              <a:r>
                <a:rPr lang="en-US" sz="1600" dirty="0">
                  <a:solidFill>
                    <a:schemeClr val="bg1"/>
                  </a:solidFill>
                </a:rPr>
                <a:t>(Wolbers, 2014)</a:t>
              </a:r>
              <a:endParaRPr lang="en-US" sz="1600" u="sng" dirty="0">
                <a:solidFill>
                  <a:schemeClr val="bg1"/>
                </a:solidFill>
              </a:endParaRPr>
            </a:p>
            <a:p>
              <a:pPr algn="ctr"/>
              <a:endParaRPr lang="en-US" sz="1600" dirty="0">
                <a:solidFill>
                  <a:schemeClr val="bg1"/>
                </a:solidFill>
              </a:endParaRPr>
            </a:p>
          </p:txBody>
        </p:sp>
        <p:sp>
          <p:nvSpPr>
            <p:cNvPr id="23" name="TextBox 22">
              <a:extLst>
                <a:ext uri="{FF2B5EF4-FFF2-40B4-BE49-F238E27FC236}">
                  <a16:creationId xmlns:a16="http://schemas.microsoft.com/office/drawing/2014/main" id="{C4B4492D-2767-2BD2-644A-E5E2173587DE}"/>
                </a:ext>
              </a:extLst>
            </p:cNvPr>
            <p:cNvSpPr txBox="1"/>
            <p:nvPr/>
          </p:nvSpPr>
          <p:spPr>
            <a:xfrm>
              <a:off x="9793357" y="4286821"/>
              <a:ext cx="1791821" cy="461665"/>
            </a:xfrm>
            <a:prstGeom prst="rect">
              <a:avLst/>
            </a:prstGeom>
            <a:noFill/>
          </p:spPr>
          <p:txBody>
            <a:bodyPr wrap="none" rtlCol="0">
              <a:prstTxWarp prst="textArchUp">
                <a:avLst>
                  <a:gd name="adj" fmla="val 11285169"/>
                </a:avLst>
              </a:prstTxWarp>
              <a:spAutoFit/>
            </a:bodyPr>
            <a:lstStyle/>
            <a:p>
              <a:pPr algn="ctr"/>
              <a:r>
                <a:rPr lang="en-US" sz="2400" dirty="0">
                  <a:solidFill>
                    <a:schemeClr val="bg2">
                      <a:lumMod val="10000"/>
                    </a:schemeClr>
                  </a:solidFill>
                </a:rPr>
                <a:t>Model Tuning</a:t>
              </a:r>
            </a:p>
          </p:txBody>
        </p:sp>
      </p:grpSp>
      <p:grpSp>
        <p:nvGrpSpPr>
          <p:cNvPr id="31" name="Group 30">
            <a:extLst>
              <a:ext uri="{FF2B5EF4-FFF2-40B4-BE49-F238E27FC236}">
                <a16:creationId xmlns:a16="http://schemas.microsoft.com/office/drawing/2014/main" id="{A57C1FB9-D7EF-585E-91BF-80747FD26B29}"/>
              </a:ext>
            </a:extLst>
          </p:cNvPr>
          <p:cNvGrpSpPr/>
          <p:nvPr/>
        </p:nvGrpSpPr>
        <p:grpSpPr>
          <a:xfrm>
            <a:off x="5141716" y="4188940"/>
            <a:ext cx="2554358" cy="2303935"/>
            <a:chOff x="5141716" y="4188940"/>
            <a:chExt cx="2554358" cy="2303935"/>
          </a:xfrm>
        </p:grpSpPr>
        <p:grpSp>
          <p:nvGrpSpPr>
            <p:cNvPr id="21" name="Group 20">
              <a:extLst>
                <a:ext uri="{FF2B5EF4-FFF2-40B4-BE49-F238E27FC236}">
                  <a16:creationId xmlns:a16="http://schemas.microsoft.com/office/drawing/2014/main" id="{C23D0849-9303-1901-9319-DB62D746029A}"/>
                </a:ext>
              </a:extLst>
            </p:cNvPr>
            <p:cNvGrpSpPr/>
            <p:nvPr/>
          </p:nvGrpSpPr>
          <p:grpSpPr>
            <a:xfrm>
              <a:off x="5141716" y="4355479"/>
              <a:ext cx="2554358" cy="2137396"/>
              <a:chOff x="5141716" y="4355479"/>
              <a:chExt cx="2554358" cy="2137396"/>
            </a:xfrm>
          </p:grpSpPr>
          <p:sp>
            <p:nvSpPr>
              <p:cNvPr id="13" name="Oval 12">
                <a:extLst>
                  <a:ext uri="{FF2B5EF4-FFF2-40B4-BE49-F238E27FC236}">
                    <a16:creationId xmlns:a16="http://schemas.microsoft.com/office/drawing/2014/main" id="{F996F024-EE8F-BBBE-CA86-DD8577950FBC}"/>
                  </a:ext>
                </a:extLst>
              </p:cNvPr>
              <p:cNvSpPr/>
              <p:nvPr/>
            </p:nvSpPr>
            <p:spPr>
              <a:xfrm>
                <a:off x="5141716" y="4355479"/>
                <a:ext cx="2554357" cy="2137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190CC5D-687E-54DC-A09F-596D031E3518}"/>
                  </a:ext>
                </a:extLst>
              </p:cNvPr>
              <p:cNvSpPr txBox="1"/>
              <p:nvPr/>
            </p:nvSpPr>
            <p:spPr>
              <a:xfrm>
                <a:off x="5141716" y="4818127"/>
                <a:ext cx="2554358" cy="1077218"/>
              </a:xfrm>
              <a:prstGeom prst="rect">
                <a:avLst/>
              </a:prstGeom>
              <a:noFill/>
            </p:spPr>
            <p:txBody>
              <a:bodyPr wrap="square" rtlCol="0">
                <a:spAutoFit/>
              </a:bodyPr>
              <a:lstStyle/>
              <a:p>
                <a:pPr algn="ctr"/>
                <a:r>
                  <a:rPr lang="en-US" sz="1600" dirty="0">
                    <a:solidFill>
                      <a:schemeClr val="bg1"/>
                    </a:solidFill>
                  </a:rPr>
                  <a:t>Proportional </a:t>
                </a:r>
                <a:r>
                  <a:rPr lang="en-US" sz="1600" dirty="0" err="1">
                    <a:solidFill>
                      <a:schemeClr val="bg1"/>
                    </a:solidFill>
                  </a:rPr>
                  <a:t>subdistribution</a:t>
                </a:r>
                <a:r>
                  <a:rPr lang="en-US" sz="1600" dirty="0">
                    <a:solidFill>
                      <a:schemeClr val="bg1"/>
                    </a:solidFill>
                  </a:rPr>
                  <a:t> hazard (Fine &amp; Gray, 1999)</a:t>
                </a:r>
                <a:endParaRPr lang="en-US" sz="1600" u="sng" dirty="0">
                  <a:solidFill>
                    <a:schemeClr val="bg1"/>
                  </a:solidFill>
                </a:endParaRPr>
              </a:p>
              <a:p>
                <a:pPr algn="ctr"/>
                <a:endParaRPr lang="en-US" sz="1600" dirty="0">
                  <a:solidFill>
                    <a:schemeClr val="bg1"/>
                  </a:solidFill>
                </a:endParaRPr>
              </a:p>
            </p:txBody>
          </p:sp>
        </p:grpSp>
        <p:sp>
          <p:nvSpPr>
            <p:cNvPr id="24" name="TextBox 23">
              <a:extLst>
                <a:ext uri="{FF2B5EF4-FFF2-40B4-BE49-F238E27FC236}">
                  <a16:creationId xmlns:a16="http://schemas.microsoft.com/office/drawing/2014/main" id="{4F81376B-3DD3-2620-772D-04DBC5E2441E}"/>
                </a:ext>
              </a:extLst>
            </p:cNvPr>
            <p:cNvSpPr txBox="1"/>
            <p:nvPr/>
          </p:nvSpPr>
          <p:spPr>
            <a:xfrm>
              <a:off x="5438580" y="4188940"/>
              <a:ext cx="2002771" cy="717767"/>
            </a:xfrm>
            <a:prstGeom prst="rect">
              <a:avLst/>
            </a:prstGeom>
            <a:noFill/>
          </p:spPr>
          <p:txBody>
            <a:bodyPr wrap="none" rtlCol="0">
              <a:prstTxWarp prst="textArchUp">
                <a:avLst>
                  <a:gd name="adj" fmla="val 10333877"/>
                </a:avLst>
              </a:prstTxWarp>
              <a:spAutoFit/>
            </a:bodyPr>
            <a:lstStyle/>
            <a:p>
              <a:pPr algn="ctr"/>
              <a:r>
                <a:rPr lang="en-US" sz="4000" dirty="0">
                  <a:solidFill>
                    <a:schemeClr val="bg2">
                      <a:lumMod val="10000"/>
                    </a:schemeClr>
                  </a:solidFill>
                </a:rPr>
                <a:t>Model Structure</a:t>
              </a:r>
            </a:p>
          </p:txBody>
        </p:sp>
      </p:grpSp>
    </p:spTree>
    <p:extLst>
      <p:ext uri="{BB962C8B-B14F-4D97-AF65-F5344CB8AC3E}">
        <p14:creationId xmlns:p14="http://schemas.microsoft.com/office/powerpoint/2010/main" val="1990078805"/>
      </p:ext>
    </p:extLst>
  </p:cSld>
  <p:clrMapOvr>
    <a:masterClrMapping/>
  </p:clrMapOvr>
</p:sld>
</file>

<file path=ppt/theme/theme1.xml><?xml version="1.0" encoding="utf-8"?>
<a:theme xmlns:a="http://schemas.openxmlformats.org/drawingml/2006/main" name="1_Office Theme">
  <a:themeElements>
    <a:clrScheme name="Red and Gray">
      <a:dk1>
        <a:srgbClr val="708E99"/>
      </a:dk1>
      <a:lt1>
        <a:srgbClr val="FFFFFF"/>
      </a:lt1>
      <a:dk2>
        <a:srgbClr val="708E99"/>
      </a:dk2>
      <a:lt2>
        <a:srgbClr val="E2E6E6"/>
      </a:lt2>
      <a:accent1>
        <a:srgbClr val="BE0000"/>
      </a:accent1>
      <a:accent2>
        <a:srgbClr val="A9A9A9"/>
      </a:accent2>
      <a:accent3>
        <a:srgbClr val="919191"/>
      </a:accent3>
      <a:accent4>
        <a:srgbClr val="797979"/>
      </a:accent4>
      <a:accent5>
        <a:srgbClr val="5F5F5F"/>
      </a:accent5>
      <a:accent6>
        <a:srgbClr val="424242"/>
      </a:accent6>
      <a:hlink>
        <a:srgbClr val="BE0000"/>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eline-Utah-Red" id="{1977D4D1-6E6C-1B45-BEDF-7B129C9F6939}" vid="{C61BC37A-9704-474B-B57B-402FD3338D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2991</TotalTime>
  <Words>883</Words>
  <Application>Microsoft Macintosh PowerPoint</Application>
  <PresentationFormat>Widescreen</PresentationFormat>
  <Paragraphs>97</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Cambria Math</vt:lpstr>
      <vt:lpstr>Factoria Ultra</vt:lpstr>
      <vt:lpstr>Wingdings</vt:lpstr>
      <vt:lpstr>1_Office Theme</vt:lpstr>
      <vt:lpstr>Addressing Competing Risks in High-Dimensional Survival Analysis:  a Bayesian Spike-and-Slab LASSO Approach</vt:lpstr>
      <vt:lpstr>PowerPoint Presentation</vt:lpstr>
      <vt:lpstr>Context</vt:lpstr>
      <vt:lpstr>Bayesian penalized regression: Spike-and-Slab LASSO</vt:lpstr>
      <vt:lpstr>Competing risks outcome: </vt:lpstr>
      <vt:lpstr>Competing risks outcome: </vt:lpstr>
      <vt:lpstr>Competing risks outcome: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Sophie Huebler</dc:creator>
  <cp:lastModifiedBy>Sophie Huebler</cp:lastModifiedBy>
  <cp:revision>54</cp:revision>
  <dcterms:created xsi:type="dcterms:W3CDTF">2026-04-21T20:29:57Z</dcterms:created>
  <dcterms:modified xsi:type="dcterms:W3CDTF">2026-04-23T22:23:03Z</dcterms:modified>
</cp:coreProperties>
</file>